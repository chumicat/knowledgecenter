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386" r:id="rId5"/>
    <p:sldId id="380" r:id="rId6"/>
    <p:sldId id="402" r:id="rId7"/>
    <p:sldId id="404" r:id="rId8"/>
    <p:sldId id="387" r:id="rId9"/>
    <p:sldId id="405" r:id="rId10"/>
    <p:sldId id="393" r:id="rId11"/>
    <p:sldId id="392" r:id="rId12"/>
    <p:sldId id="381" r:id="rId13"/>
    <p:sldId id="383" r:id="rId14"/>
    <p:sldId id="390" r:id="rId15"/>
    <p:sldId id="389" r:id="rId16"/>
    <p:sldId id="397" r:id="rId17"/>
    <p:sldId id="396" r:id="rId18"/>
    <p:sldId id="395" r:id="rId19"/>
    <p:sldId id="398" r:id="rId20"/>
    <p:sldId id="382" r:id="rId21"/>
    <p:sldId id="399" r:id="rId22"/>
    <p:sldId id="401" r:id="rId23"/>
    <p:sldId id="321" r:id="rId24"/>
  </p:sldIdLst>
  <p:sldSz cx="12188825" cy="6858000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672"/>
    <a:srgbClr val="38B37B"/>
    <a:srgbClr val="2A6EA6"/>
    <a:srgbClr val="2D719B"/>
    <a:srgbClr val="5DC193"/>
    <a:srgbClr val="5DC1C5"/>
    <a:srgbClr val="2C65A4"/>
    <a:srgbClr val="2A619E"/>
    <a:srgbClr val="2F7D99"/>
    <a:srgbClr val="3292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26" autoAdjust="0"/>
    <p:restoredTop sz="63227" autoAdjust="0"/>
  </p:normalViewPr>
  <p:slideViewPr>
    <p:cSldViewPr showGuides="1">
      <p:cViewPr>
        <p:scale>
          <a:sx n="60" d="100"/>
          <a:sy n="60" d="100"/>
        </p:scale>
        <p:origin x="1762" y="38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8" d="100"/>
          <a:sy n="88" d="100"/>
        </p:scale>
        <p:origin x="3822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2/23/2022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2/23/2022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 smtClean="0"/>
          </a:p>
          <a:p>
            <a:r>
              <a:rPr lang="zh-TW" altLang="en-US" dirty="0" smtClean="0"/>
              <a:t>大家好，我是核心資安技術處 </a:t>
            </a:r>
            <a:r>
              <a:rPr lang="en-US" altLang="zh-TW" dirty="0" smtClean="0"/>
              <a:t>B </a:t>
            </a:r>
            <a:r>
              <a:rPr lang="zh-TW" altLang="en-US" dirty="0" smtClean="0"/>
              <a:t>的助理系統工程師，我叫曾理碩</a:t>
            </a:r>
          </a:p>
          <a:p>
            <a:r>
              <a:rPr lang="zh-TW" altLang="en-US" dirty="0" smtClean="0"/>
              <a:t>今天與大家分享的內容，是「</a:t>
            </a:r>
            <a:r>
              <a:rPr lang="en-US" altLang="zh-TW" dirty="0" smtClean="0"/>
              <a:t>App Engine </a:t>
            </a:r>
            <a:r>
              <a:rPr lang="zh-TW" altLang="en-US" dirty="0" smtClean="0"/>
              <a:t>介紹」 以及 「以 </a:t>
            </a:r>
            <a:r>
              <a:rPr lang="en-US" altLang="zh-TW" dirty="0" smtClean="0"/>
              <a:t>App Engine </a:t>
            </a:r>
            <a:r>
              <a:rPr lang="zh-TW" altLang="en-US" dirty="0" smtClean="0"/>
              <a:t>託管網頁」的 </a:t>
            </a:r>
            <a:r>
              <a:rPr lang="en-US" altLang="zh-TW" dirty="0" smtClean="0"/>
              <a:t>Lab</a:t>
            </a:r>
            <a:r>
              <a:rPr lang="zh-TW" altLang="en-US" dirty="0" smtClean="0"/>
              <a:t>。內容不深，不過會提供一些使用 </a:t>
            </a:r>
            <a:r>
              <a:rPr lang="en-US" altLang="zh-TW" dirty="0" smtClean="0"/>
              <a:t>GCP </a:t>
            </a:r>
            <a:r>
              <a:rPr lang="zh-TW" altLang="en-US" dirty="0" smtClean="0"/>
              <a:t>的思路以及實際使用時會遇上的問題排解。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54560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那麼首先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60633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App Engine </a:t>
            </a:r>
            <a:r>
              <a:rPr lang="zh-TW" altLang="en-US" dirty="0" smtClean="0"/>
              <a:t>是什麼？</a:t>
            </a:r>
            <a:r>
              <a:rPr lang="en-US" altLang="zh-TW" dirty="0" smtClean="0"/>
              <a:t>Google App Engine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55306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簡稱 </a:t>
            </a:r>
            <a:r>
              <a:rPr lang="en-US" altLang="zh-TW" dirty="0" smtClean="0"/>
              <a:t>GAE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6652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是 </a:t>
            </a:r>
            <a:r>
              <a:rPr lang="en-US" altLang="zh-TW" dirty="0" smtClean="0"/>
              <a:t>Google </a:t>
            </a:r>
            <a:r>
              <a:rPr lang="zh-TW" altLang="en-US" dirty="0" smtClean="0"/>
              <a:t>的全託管的無伺服器服務，屬於平台即服務，並且提供 </a:t>
            </a:r>
            <a:r>
              <a:rPr lang="en-US" altLang="zh-TW" dirty="0" smtClean="0"/>
              <a:t>three nine five </a:t>
            </a:r>
            <a:r>
              <a:rPr lang="zh-TW" altLang="en-US" dirty="0" smtClean="0"/>
              <a:t>的 </a:t>
            </a:r>
            <a:r>
              <a:rPr lang="en-US" altLang="zh-TW" dirty="0" smtClean="0"/>
              <a:t>SLA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App Engine </a:t>
            </a:r>
            <a:r>
              <a:rPr lang="zh-TW" altLang="en-US" dirty="0" smtClean="0"/>
              <a:t>讓開發者專注在開發「服務」上，而不需要自己管理「主機」、「作業系統」、或「</a:t>
            </a:r>
            <a:r>
              <a:rPr lang="en-US" altLang="zh-TW" dirty="0" smtClean="0"/>
              <a:t>Runtime </a:t>
            </a:r>
            <a:r>
              <a:rPr lang="zh-TW" altLang="en-US" dirty="0" smtClean="0"/>
              <a:t>版本」等底層環境</a:t>
            </a:r>
            <a:r>
              <a:rPr lang="en-US" altLang="zh-TW" dirty="0" smtClean="0"/>
              <a:t>...</a:t>
            </a:r>
            <a:r>
              <a:rPr lang="zh-TW" altLang="en-US" dirty="0" smtClean="0"/>
              <a:t>恩！本該是這樣子的，但實際上為了讓環境更有彈性，能讓使用者自訂一些客製化的東西，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78549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現在的 </a:t>
            </a:r>
            <a:r>
              <a:rPr lang="en-US" altLang="zh-TW" dirty="0" smtClean="0"/>
              <a:t>App Engine </a:t>
            </a:r>
            <a:r>
              <a:rPr lang="zh-TW" altLang="en-US" dirty="0" smtClean="0"/>
              <a:t>能藉由選擇的環境，對 </a:t>
            </a:r>
            <a:r>
              <a:rPr lang="en-US" altLang="zh-TW" dirty="0" smtClean="0"/>
              <a:t>Runtime </a:t>
            </a:r>
            <a:r>
              <a:rPr lang="zh-TW" altLang="en-US" dirty="0" smtClean="0"/>
              <a:t>等較為底層的管理侵門踏戶。</a:t>
            </a:r>
          </a:p>
          <a:p>
            <a:r>
              <a:rPr lang="zh-TW" altLang="en-US" dirty="0" smtClean="0"/>
              <a:t>所以實際上，像「無伺服器」阿、「</a:t>
            </a:r>
            <a:r>
              <a:rPr lang="en-US" altLang="zh-TW" dirty="0" smtClean="0"/>
              <a:t>PaaS</a:t>
            </a:r>
            <a:r>
              <a:rPr lang="zh-TW" altLang="en-US" dirty="0" smtClean="0"/>
              <a:t>」阿這種標籤，現在都只能算是 </a:t>
            </a:r>
            <a:r>
              <a:rPr lang="en-US" altLang="zh-TW" dirty="0" smtClean="0"/>
              <a:t>App Engine </a:t>
            </a:r>
            <a:r>
              <a:rPr lang="zh-TW" altLang="en-US" dirty="0" smtClean="0"/>
              <a:t>部分環境下的屬性了。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14508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既然談到了這個，讓我們來更深入的了解它吧！</a:t>
            </a:r>
          </a:p>
          <a:p>
            <a:r>
              <a:rPr lang="en-US" altLang="zh-TW" dirty="0" smtClean="0"/>
              <a:t>App Engine </a:t>
            </a:r>
            <a:r>
              <a:rPr lang="zh-TW" altLang="en-US" dirty="0" smtClean="0"/>
              <a:t>有 </a:t>
            </a:r>
            <a:r>
              <a:rPr lang="en-US" altLang="zh-TW" dirty="0" smtClean="0"/>
              <a:t>Standard </a:t>
            </a:r>
            <a:r>
              <a:rPr lang="zh-TW" altLang="en-US" dirty="0" smtClean="0"/>
              <a:t>跟 </a:t>
            </a:r>
            <a:r>
              <a:rPr lang="en-US" altLang="zh-TW" dirty="0" err="1" smtClean="0"/>
              <a:t>Flexable</a:t>
            </a:r>
            <a:r>
              <a:rPr lang="en-US" altLang="zh-TW" dirty="0" smtClean="0"/>
              <a:t> </a:t>
            </a:r>
            <a:r>
              <a:rPr lang="zh-TW" altLang="en-US" dirty="0" smtClean="0"/>
              <a:t>兩種環境模式。</a:t>
            </a:r>
          </a:p>
          <a:p>
            <a:r>
              <a:rPr lang="zh-TW" altLang="en-US" dirty="0" smtClean="0"/>
              <a:t>在 </a:t>
            </a:r>
            <a:r>
              <a:rPr lang="en-US" altLang="zh-TW" dirty="0" smtClean="0"/>
              <a:t>Standard </a:t>
            </a:r>
            <a:r>
              <a:rPr lang="zh-TW" altLang="en-US" dirty="0" smtClean="0"/>
              <a:t>模式下，使用無伺服器架構，服務沒有被使用時自動釋放計算資源。如果我們已經部屬的應用程式很</a:t>
            </a:r>
            <a:r>
              <a:rPr lang="en-US" altLang="zh-TW" dirty="0" smtClean="0"/>
              <a:t>~</a:t>
            </a:r>
            <a:r>
              <a:rPr lang="zh-TW" altLang="en-US" dirty="0" smtClean="0"/>
              <a:t>久沒有人使用，</a:t>
            </a:r>
            <a:r>
              <a:rPr lang="en-US" altLang="zh-TW" dirty="0" smtClean="0"/>
              <a:t>Google </a:t>
            </a:r>
            <a:r>
              <a:rPr lang="zh-TW" altLang="en-US" dirty="0" smtClean="0"/>
              <a:t>甚至可以讓應用程式釋放所有資源，如此一來就不會跟我們收錢。不過，等到下次應用程式被呼叫時，就會出現 </a:t>
            </a:r>
            <a:r>
              <a:rPr lang="en-US" altLang="zh-TW" dirty="0" smtClean="0"/>
              <a:t>Cold Start </a:t>
            </a:r>
            <a:r>
              <a:rPr lang="zh-TW" altLang="en-US" dirty="0" smtClean="0"/>
              <a:t>的狀況，也就是啟動服務時要等一小段時間讓 </a:t>
            </a:r>
            <a:r>
              <a:rPr lang="en-US" altLang="zh-TW" dirty="0" smtClean="0"/>
              <a:t>Google </a:t>
            </a:r>
            <a:r>
              <a:rPr lang="zh-TW" altLang="en-US" dirty="0" smtClean="0"/>
              <a:t>分配資源給應用程式。預設值可以藉由修改 </a:t>
            </a:r>
            <a:r>
              <a:rPr lang="en-US" altLang="zh-TW" dirty="0" err="1" smtClean="0"/>
              <a:t>yml</a:t>
            </a:r>
            <a:r>
              <a:rPr lang="en-US" altLang="zh-TW" dirty="0" smtClean="0"/>
              <a:t> </a:t>
            </a:r>
            <a:r>
              <a:rPr lang="zh-TW" altLang="en-US" dirty="0" smtClean="0"/>
              <a:t>檔改變 </a:t>
            </a:r>
            <a:r>
              <a:rPr lang="en-US" altLang="zh-TW" dirty="0" smtClean="0"/>
              <a:t>Scaling </a:t>
            </a:r>
            <a:r>
              <a:rPr lang="zh-TW" altLang="en-US" dirty="0" smtClean="0"/>
              <a:t>的方式，因此如果希望至少維持一個實例以避免 </a:t>
            </a:r>
            <a:r>
              <a:rPr lang="en-US" altLang="zh-TW" dirty="0" smtClean="0"/>
              <a:t>Cold Start </a:t>
            </a:r>
            <a:r>
              <a:rPr lang="zh-TW" altLang="en-US" dirty="0" smtClean="0"/>
              <a:t>也是沒問題的。</a:t>
            </a:r>
          </a:p>
          <a:p>
            <a:r>
              <a:rPr lang="zh-TW" altLang="en-US" dirty="0" smtClean="0"/>
              <a:t>在 </a:t>
            </a:r>
            <a:r>
              <a:rPr lang="en-US" altLang="zh-TW" dirty="0" err="1" smtClean="0"/>
              <a:t>Flexable</a:t>
            </a:r>
            <a:r>
              <a:rPr lang="en-US" altLang="zh-TW" dirty="0" smtClean="0"/>
              <a:t> </a:t>
            </a:r>
            <a:r>
              <a:rPr lang="zh-TW" altLang="en-US" dirty="0" smtClean="0"/>
              <a:t>模式下，部屬的時候必須聲明 </a:t>
            </a:r>
            <a:r>
              <a:rPr lang="en-US" altLang="zh-TW" dirty="0" smtClean="0"/>
              <a:t>VM </a:t>
            </a:r>
            <a:r>
              <a:rPr lang="zh-TW" altLang="en-US" dirty="0" smtClean="0"/>
              <a:t>的規格，簡單來說就是伺服器託管。即便服務閒置中，伺服器也是開著，因此也會收取維運 </a:t>
            </a:r>
            <a:r>
              <a:rPr lang="en-US" altLang="zh-TW" dirty="0" smtClean="0"/>
              <a:t>VM </a:t>
            </a:r>
            <a:r>
              <a:rPr lang="zh-TW" altLang="en-US" dirty="0" smtClean="0"/>
              <a:t>的費用。</a:t>
            </a:r>
          </a:p>
          <a:p>
            <a:r>
              <a:rPr lang="zh-TW" altLang="en-US" dirty="0" smtClean="0"/>
              <a:t>它的優點是能將自己客製化的環境打包成容器來部屬，也能直接 </a:t>
            </a:r>
            <a:r>
              <a:rPr lang="en-US" altLang="zh-TW" dirty="0" smtClean="0"/>
              <a:t>SSH </a:t>
            </a:r>
            <a:r>
              <a:rPr lang="zh-TW" altLang="en-US" dirty="0" smtClean="0"/>
              <a:t>連進 </a:t>
            </a:r>
            <a:r>
              <a:rPr lang="en-US" altLang="zh-TW" dirty="0" smtClean="0"/>
              <a:t>VM </a:t>
            </a:r>
            <a:r>
              <a:rPr lang="zh-TW" altLang="en-US" dirty="0" smtClean="0"/>
              <a:t>裡面。</a:t>
            </a:r>
          </a:p>
          <a:p>
            <a:r>
              <a:rPr lang="zh-TW" altLang="en-US" dirty="0" smtClean="0"/>
              <a:t>原則上，如果不知道自己的專案要使用哪一個，那就使用 </a:t>
            </a:r>
            <a:r>
              <a:rPr lang="en-US" altLang="zh-TW" dirty="0" smtClean="0"/>
              <a:t>Standard </a:t>
            </a:r>
            <a:r>
              <a:rPr lang="zh-TW" altLang="en-US" dirty="0" smtClean="0"/>
              <a:t>模式，而當有客製化運行環境需求時，才會用到 </a:t>
            </a:r>
            <a:r>
              <a:rPr lang="en-US" altLang="zh-TW" dirty="0" err="1" smtClean="0"/>
              <a:t>Flexable</a:t>
            </a:r>
            <a:r>
              <a:rPr lang="en-US" altLang="zh-TW" dirty="0" smtClean="0"/>
              <a:t> </a:t>
            </a:r>
            <a:r>
              <a:rPr lang="zh-TW" altLang="en-US" dirty="0" smtClean="0"/>
              <a:t>模式。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64068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App Engine </a:t>
            </a:r>
            <a:r>
              <a:rPr lang="zh-TW" altLang="en-US" dirty="0" smtClean="0"/>
              <a:t>可以用來開發「網頁應用程式」、「</a:t>
            </a:r>
            <a:r>
              <a:rPr lang="en-US" altLang="zh-TW" dirty="0" smtClean="0"/>
              <a:t>HTTP API</a:t>
            </a:r>
            <a:r>
              <a:rPr lang="zh-TW" altLang="en-US" dirty="0" smtClean="0"/>
              <a:t>」以及作為「手機應用程式的後端」。</a:t>
            </a:r>
          </a:p>
          <a:p>
            <a:r>
              <a:rPr lang="zh-TW" altLang="en-US" dirty="0" smtClean="0"/>
              <a:t>在這邊補充一下，想要製作線上服務，在上雲時也可能規劃出不同的架構，要選擇哪一種，還必須了解各種部屬間的利弊。</a:t>
            </a:r>
            <a:endParaRPr lang="en-US" altLang="zh-TW" dirty="0" smtClean="0"/>
          </a:p>
          <a:p>
            <a:endParaRPr lang="zh-TW" altLang="en-US" dirty="0" smtClean="0"/>
          </a:p>
          <a:p>
            <a:r>
              <a:rPr lang="zh-TW" altLang="en-US" dirty="0" smtClean="0"/>
              <a:t>例如網站如果是靜態網站，</a:t>
            </a:r>
            <a:r>
              <a:rPr lang="en-US" altLang="zh-TW" dirty="0" smtClean="0"/>
              <a:t>Google </a:t>
            </a:r>
            <a:r>
              <a:rPr lang="zh-TW" altLang="en-US" dirty="0" smtClean="0"/>
              <a:t>的儲存服務 </a:t>
            </a:r>
            <a:r>
              <a:rPr lang="en-US" altLang="zh-TW" dirty="0" smtClean="0"/>
              <a:t>Cloud Storage </a:t>
            </a:r>
            <a:r>
              <a:rPr lang="zh-TW" altLang="en-US" dirty="0" smtClean="0"/>
              <a:t>就能辦到了，用不著勞駕 </a:t>
            </a:r>
            <a:r>
              <a:rPr lang="en-US" altLang="zh-TW" dirty="0" smtClean="0"/>
              <a:t>App Engine</a:t>
            </a:r>
            <a:r>
              <a:rPr lang="zh-TW" altLang="en-US" dirty="0" smtClean="0"/>
              <a:t>。</a:t>
            </a:r>
          </a:p>
          <a:p>
            <a:endParaRPr lang="zh-TW" altLang="en-US" dirty="0" smtClean="0"/>
          </a:p>
          <a:p>
            <a:r>
              <a:rPr lang="zh-TW" altLang="en-US" dirty="0" smtClean="0"/>
              <a:t>網頁應用程式與動態網站，我們可能會因為權衡「使用頻率」與「管理成本」，而在 </a:t>
            </a:r>
            <a:r>
              <a:rPr lang="en-US" altLang="zh-TW" dirty="0" smtClean="0"/>
              <a:t>App Engine </a:t>
            </a:r>
            <a:r>
              <a:rPr lang="zh-TW" altLang="en-US" dirty="0" smtClean="0"/>
              <a:t>與 </a:t>
            </a:r>
            <a:r>
              <a:rPr lang="en-US" altLang="zh-TW" dirty="0" smtClean="0"/>
              <a:t>Compute Engine </a:t>
            </a:r>
            <a:r>
              <a:rPr lang="zh-TW" altLang="en-US" dirty="0" smtClean="0"/>
              <a:t>間抉擇</a:t>
            </a:r>
          </a:p>
          <a:p>
            <a:endParaRPr lang="zh-TW" altLang="en-US" dirty="0" smtClean="0"/>
          </a:p>
          <a:p>
            <a:r>
              <a:rPr lang="zh-TW" altLang="en-US" dirty="0" smtClean="0"/>
              <a:t>如果想要建立 </a:t>
            </a:r>
            <a:r>
              <a:rPr lang="en-US" altLang="zh-TW" dirty="0" smtClean="0"/>
              <a:t>RESTful API</a:t>
            </a:r>
            <a:r>
              <a:rPr lang="zh-TW" altLang="en-US" dirty="0" smtClean="0"/>
              <a:t>，我們還有無實例的「</a:t>
            </a:r>
            <a:r>
              <a:rPr lang="en-US" altLang="zh-TW" dirty="0" smtClean="0"/>
              <a:t>Cloud Function</a:t>
            </a:r>
            <a:r>
              <a:rPr lang="zh-TW" altLang="en-US" dirty="0" smtClean="0"/>
              <a:t>」跟「</a:t>
            </a:r>
            <a:r>
              <a:rPr lang="en-US" altLang="zh-TW" dirty="0" smtClean="0"/>
              <a:t>API Gateway</a:t>
            </a:r>
            <a:r>
              <a:rPr lang="zh-TW" altLang="en-US" dirty="0" smtClean="0"/>
              <a:t>」這組合套餐可以選擇。</a:t>
            </a:r>
          </a:p>
          <a:p>
            <a:r>
              <a:rPr lang="zh-TW" altLang="en-US" dirty="0" smtClean="0"/>
              <a:t>我們要使用哪一種方式部屬、結合使用哪些服務，可以根據對該專案的各面向的「需求」與「成本」等考量，並不是只有一種方法。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1212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App Engine </a:t>
            </a:r>
            <a:r>
              <a:rPr lang="zh-TW" altLang="en-US" dirty="0" smtClean="0"/>
              <a:t>簡介完 ，就來實際使用看看吧！然而在部屬 </a:t>
            </a:r>
            <a:r>
              <a:rPr lang="en-US" altLang="zh-TW" dirty="0" smtClean="0"/>
              <a:t>App Engine </a:t>
            </a:r>
            <a:r>
              <a:rPr lang="zh-TW" altLang="en-US" dirty="0" smtClean="0"/>
              <a:t>專案前，就先來對環境進行一些設定吧！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8704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首先是「建立 </a:t>
            </a:r>
            <a:r>
              <a:rPr lang="en-US" altLang="zh-TW" dirty="0" smtClean="0"/>
              <a:t>GCP Project</a:t>
            </a:r>
            <a:r>
              <a:rPr lang="zh-TW" altLang="en-US" dirty="0" smtClean="0"/>
              <a:t>」</a:t>
            </a:r>
          </a:p>
          <a:p>
            <a:r>
              <a:rPr lang="zh-TW" altLang="en-US" dirty="0" smtClean="0"/>
              <a:t>一個開發者可能會有數個想要在 </a:t>
            </a:r>
            <a:r>
              <a:rPr lang="en-US" altLang="zh-TW" dirty="0" smtClean="0"/>
              <a:t>GCP </a:t>
            </a:r>
            <a:r>
              <a:rPr lang="zh-TW" altLang="en-US" dirty="0" smtClean="0"/>
              <a:t>上線的應用程式，每個應用程式都會使用到相同、或不同的 </a:t>
            </a:r>
            <a:r>
              <a:rPr lang="en-US" altLang="zh-TW" dirty="0" smtClean="0"/>
              <a:t>GCP </a:t>
            </a:r>
            <a:r>
              <a:rPr lang="zh-TW" altLang="en-US" dirty="0" smtClean="0"/>
              <a:t>服務。為了讓專案之間的資源不會互相干擾，我們會為每一個專案建立一個 </a:t>
            </a:r>
            <a:r>
              <a:rPr lang="en-US" altLang="zh-TW" dirty="0" smtClean="0"/>
              <a:t>GCP Project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GCP Project </a:t>
            </a:r>
            <a:r>
              <a:rPr lang="zh-TW" altLang="en-US" dirty="0" smtClean="0"/>
              <a:t>是一組組態設定，用於定義與管理「應用程式」相關的 </a:t>
            </a:r>
            <a:r>
              <a:rPr lang="en-US" altLang="zh-TW" dirty="0" smtClean="0"/>
              <a:t>GCP </a:t>
            </a:r>
            <a:r>
              <a:rPr lang="zh-TW" altLang="en-US" dirty="0" smtClean="0"/>
              <a:t>資源。 </a:t>
            </a:r>
          </a:p>
          <a:p>
            <a:endParaRPr lang="zh-TW" altLang="en-US" dirty="0" smtClean="0"/>
          </a:p>
          <a:p>
            <a:r>
              <a:rPr lang="en-US" altLang="zh-TW" dirty="0" smtClean="0"/>
              <a:t>Project </a:t>
            </a:r>
            <a:r>
              <a:rPr lang="zh-TW" altLang="en-US" dirty="0" smtClean="0"/>
              <a:t>的名稱是可以更改的，但 </a:t>
            </a:r>
            <a:r>
              <a:rPr lang="en-US" altLang="zh-TW" dirty="0" smtClean="0"/>
              <a:t>ID </a:t>
            </a:r>
            <a:r>
              <a:rPr lang="zh-TW" altLang="en-US" dirty="0" smtClean="0"/>
              <a:t>在設定後將無法變更。將 </a:t>
            </a:r>
            <a:r>
              <a:rPr lang="en-US" altLang="zh-TW" dirty="0" smtClean="0"/>
              <a:t>Project ID </a:t>
            </a:r>
            <a:r>
              <a:rPr lang="zh-TW" altLang="en-US" dirty="0" smtClean="0"/>
              <a:t>設定得易於理解其實是件重要的事。例如，</a:t>
            </a:r>
          </a:p>
          <a:p>
            <a:endParaRPr lang="zh-TW" altLang="en-US" dirty="0" smtClean="0"/>
          </a:p>
          <a:p>
            <a:r>
              <a:rPr lang="zh-TW" altLang="en-US" dirty="0" smtClean="0"/>
              <a:t>在終端切換 </a:t>
            </a:r>
            <a:r>
              <a:rPr lang="en-US" altLang="zh-TW" dirty="0" smtClean="0"/>
              <a:t>Project </a:t>
            </a:r>
            <a:r>
              <a:rPr lang="zh-TW" altLang="en-US" dirty="0" smtClean="0"/>
              <a:t>時，能列出的是 </a:t>
            </a:r>
            <a:r>
              <a:rPr lang="en-US" altLang="zh-TW" dirty="0" smtClean="0"/>
              <a:t>Project ID</a:t>
            </a:r>
            <a:r>
              <a:rPr lang="zh-TW" altLang="en-US" dirty="0" smtClean="0"/>
              <a:t>；</a:t>
            </a:r>
          </a:p>
          <a:p>
            <a:endParaRPr lang="zh-TW" altLang="en-US" dirty="0" smtClean="0"/>
          </a:p>
          <a:p>
            <a:r>
              <a:rPr lang="zh-TW" altLang="en-US" dirty="0" smtClean="0"/>
              <a:t>又，當我們部屬完專案時，預設網址中也會填入 </a:t>
            </a:r>
            <a:r>
              <a:rPr lang="en-US" altLang="zh-TW" dirty="0" smtClean="0"/>
              <a:t>Project ID</a:t>
            </a:r>
            <a:r>
              <a:rPr lang="zh-TW" altLang="en-US" dirty="0" smtClean="0"/>
              <a:t>。</a:t>
            </a:r>
          </a:p>
          <a:p>
            <a:r>
              <a:rPr lang="zh-TW" altLang="en-US" dirty="0" smtClean="0"/>
              <a:t>因此不妨花一點時間，想個一目瞭然的 </a:t>
            </a:r>
            <a:r>
              <a:rPr lang="en-US" altLang="zh-TW" dirty="0" smtClean="0"/>
              <a:t>Project ID 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我們能在上方的 </a:t>
            </a:r>
            <a:r>
              <a:rPr lang="en-US" altLang="zh-TW" dirty="0" smtClean="0"/>
              <a:t>Banner </a:t>
            </a:r>
            <a:r>
              <a:rPr lang="zh-TW" altLang="en-US" dirty="0" smtClean="0"/>
              <a:t>找到專案選項，並新增一個 </a:t>
            </a:r>
            <a:r>
              <a:rPr lang="en-US" altLang="zh-TW" dirty="0" smtClean="0"/>
              <a:t>Project</a:t>
            </a:r>
            <a:r>
              <a:rPr lang="zh-TW" altLang="en-US" dirty="0" smtClean="0"/>
              <a:t>。</a:t>
            </a:r>
          </a:p>
          <a:p>
            <a:r>
              <a:rPr lang="zh-TW" altLang="en-US" dirty="0" smtClean="0"/>
              <a:t>建立完 </a:t>
            </a:r>
            <a:r>
              <a:rPr lang="en-US" altLang="zh-TW" dirty="0" smtClean="0"/>
              <a:t>GCP Project </a:t>
            </a:r>
            <a:r>
              <a:rPr lang="zh-TW" altLang="en-US" dirty="0" smtClean="0"/>
              <a:t>後，並不會直接進入剛建立的 </a:t>
            </a:r>
            <a:r>
              <a:rPr lang="en-US" altLang="zh-TW" dirty="0" smtClean="0"/>
              <a:t>Project </a:t>
            </a:r>
            <a:r>
              <a:rPr lang="zh-TW" altLang="en-US" dirty="0" smtClean="0"/>
              <a:t>中，需要點擊圖片中紅色框框住的按鈕來切換專案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t>10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86968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接下來我們要選定專案中 </a:t>
            </a:r>
            <a:r>
              <a:rPr lang="en-US" altLang="zh-TW" dirty="0" smtClean="0"/>
              <a:t>App Engine </a:t>
            </a:r>
            <a:r>
              <a:rPr lang="zh-TW" altLang="en-US" dirty="0" smtClean="0"/>
              <a:t>運行的 </a:t>
            </a:r>
            <a:r>
              <a:rPr lang="en-US" altLang="zh-TW" dirty="0" smtClean="0"/>
              <a:t>Region</a:t>
            </a:r>
            <a:r>
              <a:rPr lang="zh-TW" altLang="en-US" dirty="0" smtClean="0"/>
              <a:t>，並設定 </a:t>
            </a:r>
            <a:r>
              <a:rPr lang="en-US" altLang="zh-TW" dirty="0" smtClean="0"/>
              <a:t>API </a:t>
            </a:r>
            <a:r>
              <a:rPr lang="zh-TW" altLang="en-US" dirty="0" smtClean="0"/>
              <a:t>的存取權。</a:t>
            </a:r>
          </a:p>
          <a:p>
            <a:r>
              <a:rPr lang="zh-TW" altLang="en-US" dirty="0" smtClean="0"/>
              <a:t>現階段 </a:t>
            </a:r>
            <a:r>
              <a:rPr lang="en-US" altLang="zh-TW" dirty="0" smtClean="0"/>
              <a:t>API </a:t>
            </a:r>
            <a:r>
              <a:rPr lang="zh-TW" altLang="en-US" dirty="0" smtClean="0"/>
              <a:t>的存取權選擇預設即可，然而 </a:t>
            </a:r>
            <a:r>
              <a:rPr lang="en-US" altLang="zh-TW" dirty="0" smtClean="0"/>
              <a:t>Region </a:t>
            </a:r>
            <a:r>
              <a:rPr lang="zh-TW" altLang="en-US" dirty="0" smtClean="0"/>
              <a:t>的選擇是需要一點著墨的，並且同一個專案內，</a:t>
            </a:r>
            <a:r>
              <a:rPr lang="en-US" altLang="zh-TW" dirty="0" smtClean="0"/>
              <a:t>App Engine </a:t>
            </a:r>
            <a:r>
              <a:rPr lang="zh-TW" altLang="en-US" dirty="0" smtClean="0"/>
              <a:t>的 </a:t>
            </a:r>
            <a:r>
              <a:rPr lang="en-US" altLang="zh-TW" dirty="0" smtClean="0"/>
              <a:t>Region </a:t>
            </a:r>
            <a:r>
              <a:rPr lang="zh-TW" altLang="en-US" dirty="0" smtClean="0"/>
              <a:t>一旦設定，便無法更改。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90203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選擇要在哪個區域運行應用，主要有幾點需要考量的點。</a:t>
            </a:r>
          </a:p>
          <a:p>
            <a:endParaRPr lang="zh-TW" altLang="en-US" dirty="0" smtClean="0"/>
          </a:p>
          <a:p>
            <a:r>
              <a:rPr lang="zh-TW" altLang="en-US" dirty="0" smtClean="0"/>
              <a:t>首先是考慮到「價格」、「延遲」等因素。一般來說，地理位置最接近的區域最好，然而這樣選擇成本可能會比較高。</a:t>
            </a:r>
          </a:p>
          <a:p>
            <a:endParaRPr lang="zh-TW" altLang="en-US" dirty="0" smtClean="0"/>
          </a:p>
          <a:p>
            <a:r>
              <a:rPr lang="zh-TW" altLang="en-US" dirty="0" smtClean="0"/>
              <a:t>我們可以利用 </a:t>
            </a:r>
            <a:r>
              <a:rPr lang="en-US" altLang="zh-TW" dirty="0" smtClean="0"/>
              <a:t>Google </a:t>
            </a:r>
            <a:r>
              <a:rPr lang="zh-TW" altLang="en-US" dirty="0" smtClean="0"/>
              <a:t>提供的 </a:t>
            </a:r>
            <a:r>
              <a:rPr lang="en-US" altLang="zh-TW" dirty="0" smtClean="0"/>
              <a:t>Region Picker </a:t>
            </a:r>
            <a:r>
              <a:rPr lang="zh-TW" altLang="en-US" dirty="0" smtClean="0"/>
              <a:t>來協助選擇。我們能設定針對各個需求面向在乎的程度，來選擇地理區域的候選名單。</a:t>
            </a:r>
          </a:p>
          <a:p>
            <a:endParaRPr lang="zh-TW" altLang="en-US" dirty="0" smtClean="0"/>
          </a:p>
          <a:p>
            <a:r>
              <a:rPr lang="zh-TW" altLang="en-US" dirty="0" smtClean="0"/>
              <a:t>再者，需要考慮到候選名單的區內，是否有支援需要的服務。有時我們會需要結合複數個 </a:t>
            </a:r>
            <a:r>
              <a:rPr lang="en-US" altLang="zh-TW" dirty="0" smtClean="0"/>
              <a:t>GCP </a:t>
            </a:r>
            <a:r>
              <a:rPr lang="zh-TW" altLang="en-US" dirty="0" smtClean="0"/>
              <a:t>服務，然而並不是所有 </a:t>
            </a:r>
            <a:r>
              <a:rPr lang="en-US" altLang="zh-TW" dirty="0" smtClean="0"/>
              <a:t>Region </a:t>
            </a:r>
            <a:r>
              <a:rPr lang="zh-TW" altLang="en-US" dirty="0" smtClean="0"/>
              <a:t>都有有支援所有服務。</a:t>
            </a:r>
          </a:p>
          <a:p>
            <a:endParaRPr lang="zh-TW" altLang="en-US" dirty="0" smtClean="0"/>
          </a:p>
          <a:p>
            <a:r>
              <a:rPr lang="zh-TW" altLang="en-US" dirty="0" smtClean="0"/>
              <a:t>我們能利用 </a:t>
            </a:r>
            <a:r>
              <a:rPr lang="en-US" altLang="zh-TW" dirty="0" smtClean="0"/>
              <a:t>Google </a:t>
            </a:r>
            <a:r>
              <a:rPr lang="zh-TW" altLang="en-US" dirty="0" smtClean="0"/>
              <a:t>的各 </a:t>
            </a:r>
            <a:r>
              <a:rPr lang="en-US" altLang="zh-TW" dirty="0" smtClean="0"/>
              <a:t>Region </a:t>
            </a:r>
            <a:r>
              <a:rPr lang="zh-TW" altLang="en-US" dirty="0" smtClean="0"/>
              <a:t>服務列表來達成比對支援服務的目的，以避免應用程式最終需要跨 </a:t>
            </a:r>
            <a:r>
              <a:rPr lang="en-US" altLang="zh-TW" dirty="0" smtClean="0"/>
              <a:t>Region </a:t>
            </a:r>
            <a:r>
              <a:rPr lang="zh-TW" altLang="en-US" dirty="0" smtClean="0"/>
              <a:t>而導致額外延遲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199649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設定完後專案的 </a:t>
            </a:r>
            <a:r>
              <a:rPr lang="en-US" altLang="zh-TW" dirty="0" smtClean="0"/>
              <a:t>Region </a:t>
            </a:r>
            <a:r>
              <a:rPr lang="zh-TW" altLang="en-US" dirty="0" smtClean="0"/>
              <a:t>後，我們能開始部屬 </a:t>
            </a:r>
            <a:r>
              <a:rPr lang="en-US" altLang="zh-TW" dirty="0" smtClean="0"/>
              <a:t>Google Cloud SDK</a:t>
            </a:r>
            <a:r>
              <a:rPr lang="zh-TW" altLang="en-US" dirty="0" smtClean="0"/>
              <a:t>。部屬前，我們先設定部屬環境為 </a:t>
            </a:r>
            <a:r>
              <a:rPr lang="en-US" altLang="zh-TW" dirty="0" smtClean="0"/>
              <a:t>Standard</a:t>
            </a:r>
            <a:r>
              <a:rPr lang="zh-TW" altLang="en-US" dirty="0" smtClean="0"/>
              <a:t>，並檢視安裝文件進行安裝。</a:t>
            </a:r>
          </a:p>
          <a:p>
            <a:r>
              <a:rPr lang="zh-TW" altLang="en-US" dirty="0" smtClean="0"/>
              <a:t>在 </a:t>
            </a:r>
            <a:r>
              <a:rPr lang="en-US" altLang="zh-TW" dirty="0" err="1" smtClean="0"/>
              <a:t>Powershell</a:t>
            </a:r>
            <a:r>
              <a:rPr lang="en-US" altLang="zh-TW" dirty="0" smtClean="0"/>
              <a:t> </a:t>
            </a:r>
            <a:r>
              <a:rPr lang="zh-TW" altLang="en-US" dirty="0" smtClean="0"/>
              <a:t>內執行指令便會開啟 </a:t>
            </a:r>
            <a:r>
              <a:rPr lang="en-US" altLang="zh-TW" dirty="0" smtClean="0"/>
              <a:t>SDK </a:t>
            </a:r>
            <a:r>
              <a:rPr lang="zh-TW" altLang="en-US" dirty="0" smtClean="0"/>
              <a:t>的 </a:t>
            </a:r>
            <a:r>
              <a:rPr lang="en-US" altLang="zh-TW" dirty="0" smtClean="0"/>
              <a:t>GUI </a:t>
            </a:r>
            <a:r>
              <a:rPr lang="zh-TW" altLang="en-US" dirty="0" smtClean="0"/>
              <a:t>安裝介面</a:t>
            </a:r>
          </a:p>
          <a:p>
            <a:endParaRPr lang="zh-TW" altLang="en-US" dirty="0" smtClean="0"/>
          </a:p>
          <a:p>
            <a:r>
              <a:rPr lang="zh-TW" altLang="en-US" dirty="0" smtClean="0"/>
              <a:t>安裝的流程，基本上就是下一步下一步。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t>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073960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安裝完 </a:t>
            </a:r>
            <a:r>
              <a:rPr lang="en-US" altLang="zh-TW" dirty="0" smtClean="0"/>
              <a:t>Google Cloud SDK </a:t>
            </a:r>
            <a:r>
              <a:rPr lang="zh-TW" altLang="en-US" dirty="0" smtClean="0"/>
              <a:t>後，就進行 </a:t>
            </a:r>
            <a:r>
              <a:rPr lang="en-US" altLang="zh-TW" dirty="0" smtClean="0"/>
              <a:t>Google Cloud SDK </a:t>
            </a:r>
            <a:r>
              <a:rPr lang="zh-TW" altLang="en-US" dirty="0" smtClean="0"/>
              <a:t>的初次設定。</a:t>
            </a:r>
          </a:p>
          <a:p>
            <a:r>
              <a:rPr lang="zh-TW" altLang="en-US" dirty="0" smtClean="0"/>
              <a:t>一般來說，初次設定會在安裝完後立刻跳出。</a:t>
            </a:r>
          </a:p>
          <a:p>
            <a:endParaRPr lang="zh-TW" altLang="en-US" dirty="0" smtClean="0"/>
          </a:p>
          <a:p>
            <a:r>
              <a:rPr lang="zh-TW" altLang="en-US" dirty="0" smtClean="0"/>
              <a:t>如果沒跳出來的話，也能使用指令 </a:t>
            </a:r>
            <a:r>
              <a:rPr lang="en-US" altLang="zh-TW" dirty="0" err="1" smtClean="0"/>
              <a:t>gcloud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init</a:t>
            </a:r>
            <a:r>
              <a:rPr lang="en-US" altLang="zh-TW" dirty="0" smtClean="0"/>
              <a:t> </a:t>
            </a:r>
            <a:r>
              <a:rPr lang="zh-TW" altLang="en-US" dirty="0" smtClean="0"/>
              <a:t>來進行</a:t>
            </a:r>
          </a:p>
          <a:p>
            <a:endParaRPr lang="zh-TW" altLang="en-US" dirty="0" smtClean="0"/>
          </a:p>
          <a:p>
            <a:r>
              <a:rPr lang="zh-TW" altLang="en-US" dirty="0" smtClean="0"/>
              <a:t>流程中需要登入 </a:t>
            </a:r>
            <a:r>
              <a:rPr lang="en-US" altLang="zh-TW" dirty="0" smtClean="0"/>
              <a:t>google </a:t>
            </a:r>
            <a:r>
              <a:rPr lang="zh-TW" altLang="en-US" dirty="0" smtClean="0"/>
              <a:t>帳號以進行驗證</a:t>
            </a:r>
          </a:p>
          <a:p>
            <a:endParaRPr lang="zh-TW" altLang="en-US" dirty="0" smtClean="0"/>
          </a:p>
          <a:p>
            <a:r>
              <a:rPr lang="zh-TW" altLang="en-US" dirty="0" smtClean="0"/>
              <a:t>設定完後能使用一些指令來檢查「目前的 </a:t>
            </a:r>
            <a:r>
              <a:rPr lang="en-US" altLang="zh-TW" dirty="0" smtClean="0"/>
              <a:t>Google </a:t>
            </a:r>
            <a:r>
              <a:rPr lang="zh-TW" altLang="en-US" dirty="0" smtClean="0"/>
              <a:t>帳號」、「所在的專案」等等資訊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t>14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216834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如果無法進行 </a:t>
            </a:r>
            <a:r>
              <a:rPr lang="en-US" altLang="zh-TW" dirty="0" smtClean="0"/>
              <a:t>SDK </a:t>
            </a:r>
            <a:r>
              <a:rPr lang="zh-TW" altLang="en-US" dirty="0" smtClean="0"/>
              <a:t>的初次設定，可能需要啟用「指令碼執行」，設定完後便能進行初始設定。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161605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本地端除了需要設定，</a:t>
            </a:r>
            <a:r>
              <a:rPr lang="en-US" altLang="zh-TW" dirty="0" smtClean="0"/>
              <a:t>Google SDK </a:t>
            </a:r>
            <a:r>
              <a:rPr lang="zh-TW" altLang="en-US" dirty="0" smtClean="0"/>
              <a:t>以外，部份的語言，例如 </a:t>
            </a:r>
            <a:r>
              <a:rPr lang="en-US" altLang="zh-TW" dirty="0" smtClean="0"/>
              <a:t>Java </a:t>
            </a:r>
            <a:r>
              <a:rPr lang="zh-TW" altLang="en-US" dirty="0" smtClean="0"/>
              <a:t>跟 </a:t>
            </a:r>
            <a:r>
              <a:rPr lang="en-US" altLang="zh-TW" dirty="0" smtClean="0"/>
              <a:t>Go</a:t>
            </a:r>
            <a:r>
              <a:rPr lang="zh-TW" altLang="en-US" dirty="0" smtClean="0"/>
              <a:t>，還需要額外的元件。此外作為開發者，也有各自的開發語言環境。不過當前我的範例是使用 </a:t>
            </a:r>
            <a:r>
              <a:rPr lang="en-US" altLang="zh-TW" dirty="0" smtClean="0"/>
              <a:t>Python</a:t>
            </a:r>
            <a:r>
              <a:rPr lang="zh-TW" altLang="en-US" dirty="0" smtClean="0"/>
              <a:t>，不用額外安裝元件，只需要更新元件即可。由於只是要嘗試部屬到 </a:t>
            </a:r>
            <a:r>
              <a:rPr lang="en-US" altLang="zh-TW" dirty="0" smtClean="0"/>
              <a:t>App Engine </a:t>
            </a:r>
            <a:r>
              <a:rPr lang="zh-TW" altLang="en-US" dirty="0" smtClean="0"/>
              <a:t>上，本地的 </a:t>
            </a:r>
            <a:r>
              <a:rPr lang="en-US" altLang="zh-TW" dirty="0" smtClean="0"/>
              <a:t>Runtime </a:t>
            </a:r>
            <a:r>
              <a:rPr lang="zh-TW" altLang="en-US" dirty="0" smtClean="0"/>
              <a:t>環境我也不太在乎，因此知道本地開發需要有對應程式即可。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729970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環境已經設定完成了，現在可以嘗試部屬應用程式或網頁到 </a:t>
            </a:r>
            <a:r>
              <a:rPr lang="en-US" altLang="zh-TW" dirty="0" smtClean="0"/>
              <a:t>App Engine </a:t>
            </a:r>
            <a:r>
              <a:rPr lang="zh-TW" altLang="en-US" dirty="0" smtClean="0"/>
              <a:t>上了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t>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996154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建議在部屬前，先把防毒關掉，不然的話「輕則等久、重則失敗」</a:t>
            </a:r>
            <a:endParaRPr lang="en-US" altLang="zh-TW" dirty="0" smtClean="0"/>
          </a:p>
          <a:p>
            <a:endParaRPr lang="zh-TW" altLang="en-US" dirty="0" smtClean="0"/>
          </a:p>
          <a:p>
            <a:r>
              <a:rPr lang="zh-TW" altLang="en-US" dirty="0" smtClean="0"/>
              <a:t>既然要部屬，就需要範例。</a:t>
            </a:r>
            <a:r>
              <a:rPr lang="en-US" altLang="zh-TW" dirty="0" smtClean="0"/>
              <a:t>Google </a:t>
            </a:r>
            <a:r>
              <a:rPr lang="zh-TW" altLang="en-US" dirty="0" smtClean="0"/>
              <a:t>本身已經有提供我們範例使用</a:t>
            </a:r>
          </a:p>
          <a:p>
            <a:endParaRPr lang="zh-TW" altLang="en-US" dirty="0" smtClean="0"/>
          </a:p>
          <a:p>
            <a:r>
              <a:rPr lang="zh-TW" altLang="en-US" dirty="0" smtClean="0"/>
              <a:t>只需要先將範例檔案下載下來</a:t>
            </a:r>
          </a:p>
          <a:p>
            <a:endParaRPr lang="zh-TW" altLang="en-US" dirty="0" smtClean="0"/>
          </a:p>
          <a:p>
            <a:r>
              <a:rPr lang="zh-TW" altLang="en-US" dirty="0" smtClean="0"/>
              <a:t>移動到範例資料夾內</a:t>
            </a:r>
          </a:p>
          <a:p>
            <a:endParaRPr lang="zh-TW" altLang="en-US" dirty="0" smtClean="0"/>
          </a:p>
          <a:p>
            <a:r>
              <a:rPr lang="zh-TW" altLang="en-US" dirty="0" smtClean="0"/>
              <a:t>最後是部屬。值得注意的是，我強烈建議一定要定義部屬版本。沒有定義部屬版本的話，</a:t>
            </a:r>
            <a:r>
              <a:rPr lang="en-US" altLang="zh-TW" dirty="0" smtClean="0"/>
              <a:t>Google </a:t>
            </a:r>
            <a:r>
              <a:rPr lang="zh-TW" altLang="en-US" dirty="0" smtClean="0"/>
              <a:t>會建立一個新版本，而舊版本並不會消失。曾經有人在彈性環境下進行測試沒有注意到這一點，花了</a:t>
            </a:r>
            <a:r>
              <a:rPr lang="en-US" altLang="zh-TW" dirty="0" smtClean="0"/>
              <a:t>500</a:t>
            </a:r>
            <a:r>
              <a:rPr lang="zh-TW" altLang="en-US" dirty="0" smtClean="0"/>
              <a:t>美元買了教訓。</a:t>
            </a:r>
          </a:p>
          <a:p>
            <a:endParaRPr lang="zh-TW" altLang="en-US" dirty="0" smtClean="0"/>
          </a:p>
          <a:p>
            <a:r>
              <a:rPr lang="zh-TW" altLang="en-US" dirty="0" smtClean="0"/>
              <a:t>只要沒有跳出錯誤，我們就能用指令來開啟瀏覽器檢視部屬結果了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t>18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041969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Google </a:t>
            </a:r>
            <a:r>
              <a:rPr lang="zh-TW" altLang="en-US" dirty="0" smtClean="0"/>
              <a:t>提供的範例還包括了不同種類的部屬範例，有最簡單的 </a:t>
            </a:r>
            <a:r>
              <a:rPr lang="en-US" altLang="zh-TW" dirty="0" smtClean="0"/>
              <a:t>Flask </a:t>
            </a:r>
            <a:r>
              <a:rPr lang="zh-TW" altLang="en-US" dirty="0" smtClean="0"/>
              <a:t>靜態 </a:t>
            </a:r>
            <a:r>
              <a:rPr lang="en-US" altLang="zh-TW" dirty="0" smtClean="0"/>
              <a:t>Hello world </a:t>
            </a:r>
            <a:r>
              <a:rPr lang="zh-TW" altLang="en-US" dirty="0" smtClean="0"/>
              <a:t>也有使用 </a:t>
            </a:r>
            <a:r>
              <a:rPr lang="en-US" altLang="zh-TW" dirty="0" smtClean="0"/>
              <a:t>Google </a:t>
            </a:r>
            <a:r>
              <a:rPr lang="en-US" altLang="zh-TW" dirty="0" err="1" smtClean="0"/>
              <a:t>BigQuery</a:t>
            </a:r>
            <a:r>
              <a:rPr lang="en-US" altLang="zh-TW" dirty="0" smtClean="0"/>
              <a:t> </a:t>
            </a:r>
            <a:r>
              <a:rPr lang="zh-TW" altLang="en-US" dirty="0" smtClean="0"/>
              <a:t>的範例程式。 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t>19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44300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感謝各位的聆聽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t>20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94472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17758" y="476672"/>
            <a:ext cx="5904656" cy="2088232"/>
          </a:xfrm>
        </p:spPr>
        <p:txBody>
          <a:bodyPr anchor="b">
            <a:normAutofit/>
          </a:bodyPr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4000" b="1">
                <a:solidFill>
                  <a:srgbClr val="2A6EA6"/>
                </a:solidFill>
                <a:latin typeface="+mj-ea"/>
                <a:ea typeface="+mj-ea"/>
              </a:defRPr>
            </a:lvl1pPr>
          </a:lstStyle>
          <a:p>
            <a:r>
              <a:rPr lang="zh-TW" altLang="en-US" dirty="0"/>
              <a:t>按一下以編輯母片標題樣式</a:t>
            </a:r>
            <a:r>
              <a:rPr lang="en-US" altLang="zh-TW" dirty="0"/>
              <a:t>123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18348" y="2708920"/>
            <a:ext cx="5904656" cy="576064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600" cap="all" spc="200" baseline="0">
                <a:solidFill>
                  <a:srgbClr val="34A672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按一下以編輯母片副標題樣式</a:t>
            </a:r>
            <a:r>
              <a:rPr lang="en-US" altLang="zh-TW" dirty="0"/>
              <a:t>123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2/23/2022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518348" y="2276872"/>
            <a:ext cx="6675775" cy="1761729"/>
          </a:xfrm>
          <a:prstGeom prst="rect">
            <a:avLst/>
          </a:prstGeom>
          <a:solidFill>
            <a:srgbClr val="2A6E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1829" y="1844824"/>
            <a:ext cx="7809521" cy="1435968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3200" b="1" cap="none" baseline="0"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06380" y="3501008"/>
            <a:ext cx="7804970" cy="609601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600" cap="all" spc="2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2/23/2022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7908" y="404664"/>
            <a:ext cx="9144001" cy="1371600"/>
          </a:xfrm>
        </p:spPr>
        <p:txBody>
          <a:bodyPr/>
          <a:lstStyle/>
          <a:p>
            <a:r>
              <a:rPr lang="zh-TW" altLang="en-US" dirty="0"/>
              <a:t>按一下以編輯母片標題樣式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2/23/2022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dirty="0"/>
              <a:t>按一下以編輯母片標題樣式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2/23/2022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2/23/2022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013F82-EE5E-44EE-A61D-E31C6657F26F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77788" y="1330423"/>
            <a:ext cx="9134391" cy="41148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/>
            </a:lvl6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2/23/2022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sp>
        <p:nvSpPr>
          <p:cNvPr id="5" name="文字方塊 4"/>
          <p:cNvSpPr txBox="1"/>
          <p:nvPr userDrawn="1"/>
        </p:nvSpPr>
        <p:spPr>
          <a:xfrm>
            <a:off x="4510236" y="2780928"/>
            <a:ext cx="3456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800" b="1" i="0" dirty="0">
                <a:solidFill>
                  <a:srgbClr val="2A6EA6"/>
                </a:solidFill>
                <a:latin typeface="Corbel" panose="020B0503020204020204" pitchFamily="34" charset="0"/>
              </a:rPr>
              <a:t>Thank You</a:t>
            </a:r>
            <a:endParaRPr lang="zh-TW" altLang="en-US" sz="4800" b="1" i="0" dirty="0">
              <a:solidFill>
                <a:srgbClr val="2A6EA6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2/23/2022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rgbClr val="D9D9D9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2/23/2022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2/23/2022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2/23/2022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7788" y="1330423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  <a:r>
              <a:rPr lang="en-US" altLang="zh-TW" dirty="0"/>
              <a:t>123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r>
              <a:rPr lang="en-US" altLang="zh-TW" dirty="0"/>
              <a:t>123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r>
              <a:rPr lang="en-US" altLang="zh-TW" dirty="0"/>
              <a:t>123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r>
              <a:rPr lang="en-US" altLang="zh-TW" dirty="0"/>
              <a:t>123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r>
              <a:rPr lang="en-US" altLang="zh-TW" dirty="0"/>
              <a:t>123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2/23/2022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6980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" y="188640"/>
            <a:ext cx="12188824" cy="7920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/>
              <a:t>按一下以編輯母片標題樣式</a:t>
            </a:r>
            <a:r>
              <a:rPr lang="en-US" altLang="zh-TW" dirty="0"/>
              <a:t>123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100" baseline="0">
          <a:solidFill>
            <a:srgbClr val="2A6EA6"/>
          </a:solidFill>
          <a:latin typeface="+mn-ea"/>
          <a:ea typeface="+mn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rgbClr val="8ED054"/>
        </a:buClr>
        <a:buSzPct val="50000"/>
        <a:buFont typeface="Wingdings" panose="05000000000000000000" pitchFamily="2" charset="2"/>
        <a:buChar char="n"/>
        <a:defRPr sz="2400" kern="1200">
          <a:solidFill>
            <a:schemeClr val="bg1"/>
          </a:solidFill>
          <a:latin typeface="+mn-ea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rgbClr val="8ED054"/>
        </a:buClr>
        <a:buSzPct val="50000"/>
        <a:buFont typeface="Wingdings" panose="05000000000000000000" pitchFamily="2" charset="2"/>
        <a:buChar char="n"/>
        <a:defRPr sz="2000" kern="1200">
          <a:solidFill>
            <a:schemeClr val="bg1"/>
          </a:solidFill>
          <a:latin typeface="+mn-ea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rgbClr val="8ED054"/>
        </a:buClr>
        <a:buSzPct val="50000"/>
        <a:buFont typeface="Wingdings" panose="05000000000000000000" pitchFamily="2" charset="2"/>
        <a:buChar char="n"/>
        <a:defRPr sz="1800" kern="1200">
          <a:solidFill>
            <a:schemeClr val="bg1"/>
          </a:solidFill>
          <a:latin typeface="+mn-ea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rgbClr val="8ED054"/>
        </a:buClr>
        <a:buSzPct val="50000"/>
        <a:buFont typeface="Wingdings" panose="05000000000000000000" pitchFamily="2" charset="2"/>
        <a:buChar char="n"/>
        <a:defRPr sz="1600" kern="1200">
          <a:solidFill>
            <a:schemeClr val="bg1"/>
          </a:solidFill>
          <a:latin typeface="+mn-ea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rgbClr val="8ED054"/>
        </a:buClr>
        <a:buSzPct val="50000"/>
        <a:buFont typeface="Wingdings" panose="05000000000000000000" pitchFamily="2" charset="2"/>
        <a:buChar char="n"/>
        <a:defRPr sz="1600" kern="1200">
          <a:solidFill>
            <a:schemeClr val="bg1"/>
          </a:solidFill>
          <a:latin typeface="+mn-ea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withgoogle.com/region-picker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hyperlink" Target="https://cloud.google.com/about/locations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0" Type="http://schemas.openxmlformats.org/officeDocument/2006/relationships/hyperlink" Target="https://cloud.google.com/sdk/docs/install-sdk?hl=zh-TW#windows" TargetMode="External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zh-tw/powershell/module/microsoft.powershell.core/about/about_execution_policies?view=powershell-7.2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appengine/docs/standard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gaesamplesite.appspot.com/downloads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GoogleCloudPlatform/python-docs-samples/tree/93f509cfb0c4bdeca2c332ff8668a76e60ebabba/appengine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GCP</a:t>
            </a:r>
            <a:r>
              <a:rPr lang="zh-TW" altLang="en-US" dirty="0"/>
              <a:t> </a:t>
            </a:r>
            <a:r>
              <a:rPr lang="en-US" altLang="zh-TW" dirty="0"/>
              <a:t>App Engine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核心資安技術處</a:t>
            </a:r>
            <a:endParaRPr lang="it-IT" altLang="zh-TW" dirty="0"/>
          </a:p>
        </p:txBody>
      </p:sp>
    </p:spTree>
    <p:extLst>
      <p:ext uri="{BB962C8B-B14F-4D97-AF65-F5344CB8AC3E}">
        <p14:creationId xmlns:p14="http://schemas.microsoft.com/office/powerpoint/2010/main" val="2203999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什麼是 </a:t>
            </a:r>
            <a:r>
              <a:rPr lang="en-US" altLang="zh-TW" dirty="0"/>
              <a:t>GCP</a:t>
            </a:r>
            <a:r>
              <a:rPr lang="zh-TW" altLang="en-US" dirty="0"/>
              <a:t> </a:t>
            </a:r>
            <a:r>
              <a:rPr lang="en-US" altLang="zh-TW" dirty="0"/>
              <a:t>App Engine</a:t>
            </a:r>
            <a:r>
              <a:rPr lang="zh-TW" altLang="en-US" dirty="0"/>
              <a:t>？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802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636912"/>
            <a:ext cx="12188824" cy="792088"/>
          </a:xfrm>
        </p:spPr>
        <p:txBody>
          <a:bodyPr>
            <a:normAutofit/>
          </a:bodyPr>
          <a:lstStyle/>
          <a:p>
            <a:r>
              <a:rPr lang="zh-TW" altLang="en-US" sz="4800" dirty="0"/>
              <a:t>什麼是 </a:t>
            </a:r>
            <a:r>
              <a:rPr lang="en-US" altLang="zh-TW" sz="4800" dirty="0"/>
              <a:t>GCP</a:t>
            </a:r>
            <a:r>
              <a:rPr lang="zh-TW" altLang="en-US" sz="4800" dirty="0"/>
              <a:t> </a:t>
            </a:r>
            <a:r>
              <a:rPr lang="en-US" altLang="zh-TW" sz="4800" dirty="0"/>
              <a:t>App Engine</a:t>
            </a:r>
            <a:r>
              <a:rPr lang="zh-TW" altLang="en-US" sz="4800" dirty="0"/>
              <a:t>？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384934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636912"/>
            <a:ext cx="12188824" cy="792088"/>
          </a:xfrm>
        </p:spPr>
        <p:txBody>
          <a:bodyPr>
            <a:normAutofit/>
          </a:bodyPr>
          <a:lstStyle/>
          <a:p>
            <a:r>
              <a:rPr lang="en-US" altLang="zh-TW" sz="4800" dirty="0"/>
              <a:t>GAE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724043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GAE: Fully Managed / PaaS / </a:t>
            </a:r>
            <a:r>
              <a:rPr lang="en-US" dirty="0" err="1"/>
              <a:t>Serverless</a:t>
            </a:r>
            <a:endParaRPr 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13" y="1330423"/>
            <a:ext cx="10058400" cy="5059882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166420" y="1268760"/>
            <a:ext cx="2232248" cy="1584176"/>
          </a:xfrm>
          <a:prstGeom prst="rect">
            <a:avLst/>
          </a:prstGeom>
          <a:noFill/>
          <a:ln w="76200">
            <a:solidFill>
              <a:schemeClr val="accent5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A7F1C1E-40FC-49BC-BDDB-B4417810D557}"/>
              </a:ext>
            </a:extLst>
          </p:cNvPr>
          <p:cNvSpPr txBox="1"/>
          <p:nvPr/>
        </p:nvSpPr>
        <p:spPr>
          <a:xfrm>
            <a:off x="8542684" y="998233"/>
            <a:ext cx="1716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/>
                </a:solidFill>
              </a:rPr>
              <a:t>SLA: 99.95%</a:t>
            </a:r>
            <a:endParaRPr lang="zh-TW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838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GAE: Fully Managed / PaaS / </a:t>
            </a:r>
            <a:r>
              <a:rPr lang="en-US" dirty="0" err="1"/>
              <a:t>Serverless</a:t>
            </a:r>
            <a:endParaRPr 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13" y="1330423"/>
            <a:ext cx="10058400" cy="5059882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166420" y="1268760"/>
            <a:ext cx="2232248" cy="2736304"/>
          </a:xfrm>
          <a:prstGeom prst="rect">
            <a:avLst/>
          </a:prstGeom>
          <a:noFill/>
          <a:ln w="76200">
            <a:solidFill>
              <a:schemeClr val="accent5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B3EC33-C8AF-43B3-B6E9-94A30147A1D1}"/>
              </a:ext>
            </a:extLst>
          </p:cNvPr>
          <p:cNvSpPr txBox="1"/>
          <p:nvPr/>
        </p:nvSpPr>
        <p:spPr>
          <a:xfrm>
            <a:off x="8542684" y="998233"/>
            <a:ext cx="1716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2"/>
                </a:solidFill>
              </a:rPr>
              <a:t>SLA: 99.95%</a:t>
            </a:r>
            <a:endParaRPr lang="zh-TW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114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GAE: </a:t>
            </a:r>
            <a:r>
              <a:rPr lang="en-US" altLang="zh-TW" dirty="0"/>
              <a:t>Environment</a:t>
            </a:r>
            <a:r>
              <a:rPr lang="en-US" dirty="0"/>
              <a:t>  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089330"/>
              </p:ext>
            </p:extLst>
          </p:nvPr>
        </p:nvGraphicFramePr>
        <p:xfrm>
          <a:off x="1269876" y="1558629"/>
          <a:ext cx="9505057" cy="3740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487">
                  <a:extLst>
                    <a:ext uri="{9D8B030D-6E8A-4147-A177-3AD203B41FA5}">
                      <a16:colId xmlns:a16="http://schemas.microsoft.com/office/drawing/2014/main" val="3427905606"/>
                    </a:ext>
                  </a:extLst>
                </a:gridCol>
                <a:gridCol w="3922722">
                  <a:extLst>
                    <a:ext uri="{9D8B030D-6E8A-4147-A177-3AD203B41FA5}">
                      <a16:colId xmlns:a16="http://schemas.microsoft.com/office/drawing/2014/main" val="1884904221"/>
                    </a:ext>
                  </a:extLst>
                </a:gridCol>
                <a:gridCol w="3771848">
                  <a:extLst>
                    <a:ext uri="{9D8B030D-6E8A-4147-A177-3AD203B41FA5}">
                      <a16:colId xmlns:a16="http://schemas.microsoft.com/office/drawing/2014/main" val="1972668089"/>
                    </a:ext>
                  </a:extLst>
                </a:gridCol>
              </a:tblGrid>
              <a:tr h="40940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標準 </a:t>
                      </a:r>
                      <a:r>
                        <a:rPr lang="en-US" altLang="zh-TW" dirty="0"/>
                        <a:t>(Standard)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彈性 </a:t>
                      </a:r>
                      <a:r>
                        <a:rPr lang="en-US" altLang="zh-TW" dirty="0"/>
                        <a:t>(Flexible)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035172"/>
                  </a:ext>
                </a:extLst>
              </a:tr>
              <a:tr h="1312344">
                <a:tc>
                  <a:txBody>
                    <a:bodyPr/>
                    <a:lstStyle/>
                    <a:p>
                      <a:r>
                        <a:rPr lang="zh-TW" altLang="en-US" dirty="0"/>
                        <a:t>費用計算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免費方案：</a:t>
                      </a:r>
                      <a:r>
                        <a:rPr lang="zh-TW" altLang="en-US" sz="180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en-US" altLang="zh-TW" sz="1800" kern="1200" dirty="0">
                        <a:solidFill>
                          <a:schemeClr val="accent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費用計算：</a:t>
                      </a:r>
                      <a:r>
                        <a:rPr lang="zh-TW" alt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依執行時間 </a:t>
                      </a:r>
                      <a:r>
                        <a:rPr lang="en-US" altLang="zh-TW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180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使用才收費</a:t>
                      </a:r>
                      <a:r>
                        <a:rPr lang="en-US" altLang="zh-TW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最小單位：</a:t>
                      </a:r>
                      <a:r>
                        <a:rPr lang="zh-TW" altLang="en-US" sz="180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秒</a:t>
                      </a:r>
                      <a:r>
                        <a:rPr lang="en-US" altLang="zh-TW" sz="180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zh-TW" sz="180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TW" altLang="en-US" sz="1800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額外收費：</a:t>
                      </a:r>
                      <a:r>
                        <a:rPr lang="zh-TW" altLang="en-U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首尾各加收</a:t>
                      </a:r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r>
                        <a:rPr lang="zh-TW" altLang="en-U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分費用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免費方案：</a:t>
                      </a:r>
                      <a:r>
                        <a:rPr lang="zh-TW" altLang="en-U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altLang="zh-TW" sz="18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費用計算：依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VM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規格 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閒置也收費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TW" altLang="en-US" dirty="0"/>
                    </a:p>
                    <a:p>
                      <a:r>
                        <a:rPr lang="zh-TW" altLang="en-US" dirty="0"/>
                        <a:t>最小單位：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分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/>
                      </a:r>
                      <a:br>
                        <a:rPr lang="en-US" altLang="zh-TW" dirty="0">
                          <a:solidFill>
                            <a:srgbClr val="FF0000"/>
                          </a:solidFill>
                        </a:rPr>
                      </a:br>
                      <a:r>
                        <a:rPr lang="zh-TW" altLang="en-US" sz="1800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額外收費：</a:t>
                      </a:r>
                      <a:r>
                        <a:rPr lang="zh-TW" altLang="en-US" sz="180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無</a:t>
                      </a:r>
                      <a:endParaRPr lang="zh-TW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721213"/>
                  </a:ext>
                </a:extLst>
              </a:tr>
              <a:tr h="1312344">
                <a:tc>
                  <a:txBody>
                    <a:bodyPr/>
                    <a:lstStyle/>
                    <a:p>
                      <a:r>
                        <a:rPr lang="zh-TW" altLang="en-US" dirty="0"/>
                        <a:t>水平擴展</a:t>
                      </a:r>
                      <a:r>
                        <a:rPr lang="en-US" altLang="zh-TW" dirty="0"/>
                        <a:t/>
                      </a:r>
                      <a:br>
                        <a:rPr lang="en-US" altLang="zh-TW" dirty="0"/>
                      </a:br>
                      <a:r>
                        <a:rPr lang="en-US" altLang="zh-TW" dirty="0"/>
                        <a:t>(Scale)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Zero Downscale</a:t>
                      </a:r>
                      <a:r>
                        <a:rPr lang="zh-TW" altLang="en-US" dirty="0"/>
                        <a:t>：</a:t>
                      </a:r>
                      <a:r>
                        <a:rPr lang="zh-TW" altLang="en-US" sz="180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Cold Start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問題：</a:t>
                      </a:r>
                      <a:r>
                        <a:rPr lang="zh-TW" altLang="en-U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有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部屬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擴張時間：</a:t>
                      </a:r>
                      <a:r>
                        <a:rPr lang="zh-TW" altLang="en-US" sz="180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短</a:t>
                      </a:r>
                      <a:endParaRPr lang="en-US" altLang="zh-TW" sz="1800" kern="1200" dirty="0">
                        <a:solidFill>
                          <a:schemeClr val="accent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Zero Downscale</a:t>
                      </a:r>
                      <a:r>
                        <a:rPr lang="zh-TW" altLang="en-US" dirty="0"/>
                        <a:t>：</a:t>
                      </a:r>
                      <a:r>
                        <a:rPr lang="zh-TW" altLang="en-U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r>
                        <a:rPr lang="zh-TW" altLang="en-US" dirty="0"/>
                        <a:t> </a:t>
                      </a:r>
                      <a:endParaRPr lang="en-US" altLang="zh-TW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Cold Start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問題：</a:t>
                      </a:r>
                      <a:r>
                        <a:rPr lang="zh-TW" altLang="en-US" sz="180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無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部屬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擴張時間：</a:t>
                      </a:r>
                      <a:r>
                        <a:rPr lang="zh-TW" altLang="en-U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長</a:t>
                      </a:r>
                      <a:r>
                        <a:rPr lang="zh-TW" altLang="en-US" sz="1800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1800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需要打包成容器的時間</a:t>
                      </a:r>
                      <a:r>
                        <a:rPr lang="en-US" altLang="zh-TW" sz="1800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297453"/>
                  </a:ext>
                </a:extLst>
              </a:tr>
              <a:tr h="706647">
                <a:tc>
                  <a:txBody>
                    <a:bodyPr/>
                    <a:lstStyle/>
                    <a:p>
                      <a:r>
                        <a:rPr lang="zh-TW" altLang="en-US" dirty="0"/>
                        <a:t>環境</a:t>
                      </a:r>
                      <a:r>
                        <a:rPr lang="en-US" altLang="zh-TW" dirty="0"/>
                        <a:t/>
                      </a:r>
                      <a:br>
                        <a:rPr lang="en-US" altLang="zh-TW" dirty="0"/>
                      </a:br>
                      <a:r>
                        <a:rPr lang="en-US" altLang="zh-TW" dirty="0"/>
                        <a:t>(Runtime)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客製化：</a:t>
                      </a:r>
                      <a:r>
                        <a:rPr lang="zh-TW" altLang="en-U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altLang="zh-TW" sz="1800" kern="1200" dirty="0">
                        <a:solidFill>
                          <a:schemeClr val="accent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SSH</a:t>
                      </a:r>
                      <a:r>
                        <a:rPr lang="zh-TW" altLang="en-US" sz="1800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zh-TW" altLang="en-U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客製化： </a:t>
                      </a:r>
                      <a:r>
                        <a:rPr lang="zh-TW" altLang="en-US" sz="180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en-US" altLang="zh-TW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SSH</a:t>
                      </a:r>
                      <a:r>
                        <a:rPr lang="zh-TW" altLang="en-US" sz="1800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zh-TW" altLang="en-US" sz="180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601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4408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GAE: Usage Example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46" y="1052736"/>
            <a:ext cx="7007134" cy="510909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F423C39-50F4-4474-9A2E-62774BDA0B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837" y="1504950"/>
            <a:ext cx="1924050" cy="19240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3580886-664F-4AE2-82D0-8C402A99CF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837" y="4048451"/>
            <a:ext cx="1924051" cy="19240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94C3587-F77F-4745-B8F7-E53111D6FEC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38" y="1446536"/>
            <a:ext cx="1924051" cy="19240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7A187F8-F125-4FB0-9EF6-D77E169880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04" y="4021142"/>
            <a:ext cx="1924050" cy="19240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08805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 Engine</a:t>
            </a:r>
            <a:r>
              <a:rPr lang="zh-TW" altLang="en-US" dirty="0"/>
              <a:t> 環境設定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45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 建立 </a:t>
            </a:r>
            <a:r>
              <a:rPr lang="en-US" dirty="0"/>
              <a:t>GCP Project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77788" y="1330423"/>
            <a:ext cx="10657184" cy="4114801"/>
          </a:xfrm>
        </p:spPr>
        <p:txBody>
          <a:bodyPr/>
          <a:lstStyle/>
          <a:p>
            <a:r>
              <a:rPr lang="en-US" dirty="0"/>
              <a:t>GCP Project </a:t>
            </a:r>
            <a:r>
              <a:rPr lang="zh-TW" altLang="en-US" dirty="0"/>
              <a:t>是一組 </a:t>
            </a:r>
            <a:r>
              <a:rPr lang="en-US" dirty="0" err="1"/>
              <a:t>Config</a:t>
            </a:r>
            <a:r>
              <a:rPr lang="en-US" dirty="0"/>
              <a:t>，</a:t>
            </a:r>
            <a:r>
              <a:rPr lang="zh-TW" altLang="en-US" dirty="0"/>
              <a:t>用於定義「應用程式」相關的 </a:t>
            </a:r>
            <a:r>
              <a:rPr lang="en-US" dirty="0"/>
              <a:t>GCP </a:t>
            </a:r>
            <a:r>
              <a:rPr lang="zh-TW" altLang="en-US" dirty="0"/>
              <a:t>資源。</a:t>
            </a:r>
            <a:endParaRPr lang="en-US" altLang="zh-TW" dirty="0"/>
          </a:p>
          <a:p>
            <a:r>
              <a:rPr lang="zh-TW" altLang="en-US" dirty="0"/>
              <a:t>專案 </a:t>
            </a:r>
            <a:r>
              <a:rPr lang="en-US" altLang="zh-TW" dirty="0"/>
              <a:t>ID</a:t>
            </a:r>
            <a:r>
              <a:rPr lang="zh-TW" altLang="en-US" dirty="0"/>
              <a:t> 設定後無法修改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948" y="2276872"/>
            <a:ext cx="8485583" cy="3911324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B6A507C4-5C4A-4214-93BC-B22D9862DB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53" y="3718080"/>
            <a:ext cx="10316617" cy="142484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329720B-01E2-4B4B-ACA9-0E8512EC50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00" y="3412244"/>
            <a:ext cx="10316617" cy="19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79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 </a:t>
            </a:r>
            <a:r>
              <a:rPr lang="zh-TW" altLang="en-US" dirty="0"/>
              <a:t>設定 </a:t>
            </a:r>
            <a:r>
              <a:rPr lang="en-US" altLang="zh-TW" dirty="0"/>
              <a:t>App Engine 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77788" y="1330423"/>
            <a:ext cx="10657184" cy="4114801"/>
          </a:xfrm>
        </p:spPr>
        <p:txBody>
          <a:bodyPr/>
          <a:lstStyle/>
          <a:p>
            <a:r>
              <a:rPr lang="zh-TW" altLang="en-US" dirty="0"/>
              <a:t>設定 </a:t>
            </a:r>
            <a:r>
              <a:rPr lang="en-US" altLang="zh-TW" dirty="0"/>
              <a:t>Region</a:t>
            </a:r>
          </a:p>
          <a:p>
            <a:r>
              <a:rPr lang="zh-TW" altLang="en-US" dirty="0"/>
              <a:t>設定 </a:t>
            </a:r>
            <a:r>
              <a:rPr lang="en-US" altLang="zh-TW" dirty="0"/>
              <a:t>API</a:t>
            </a:r>
            <a:r>
              <a:rPr lang="zh-TW" altLang="en-US" dirty="0"/>
              <a:t> 存取權</a:t>
            </a:r>
            <a:endParaRPr lang="en-US" altLang="zh-TW" dirty="0"/>
          </a:p>
          <a:p>
            <a:endParaRPr lang="en-US" altLang="zh-TW" dirty="0"/>
          </a:p>
          <a:p>
            <a:endParaRPr 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100" y="1324541"/>
            <a:ext cx="8580628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272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補充：選擇 </a:t>
            </a:r>
            <a:r>
              <a:rPr lang="en-US" altLang="zh-TW" dirty="0"/>
              <a:t>Region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考量「延遲」、「價格」，參考 </a:t>
            </a:r>
            <a:r>
              <a:rPr lang="en-US" altLang="zh-TW" dirty="0">
                <a:hlinkClick r:id="rId3"/>
              </a:rPr>
              <a:t>GCP</a:t>
            </a:r>
            <a:r>
              <a:rPr lang="zh-TW" altLang="en-US" dirty="0">
                <a:hlinkClick r:id="rId3"/>
              </a:rPr>
              <a:t> </a:t>
            </a:r>
            <a:r>
              <a:rPr lang="en-US" altLang="zh-TW" dirty="0">
                <a:hlinkClick r:id="rId3"/>
              </a:rPr>
              <a:t>Region Picker</a:t>
            </a:r>
            <a:endParaRPr lang="en-US" dirty="0"/>
          </a:p>
          <a:p>
            <a:r>
              <a:rPr lang="zh-TW" altLang="en-US" dirty="0"/>
              <a:t>考量「服務」、「支援」，參考 </a:t>
            </a:r>
            <a:r>
              <a:rPr lang="en-US" altLang="zh-TW" dirty="0">
                <a:hlinkClick r:id="rId4"/>
              </a:rPr>
              <a:t>GCP</a:t>
            </a:r>
            <a:r>
              <a:rPr lang="zh-TW" altLang="en-US" dirty="0">
                <a:hlinkClick r:id="rId4"/>
              </a:rPr>
              <a:t> </a:t>
            </a:r>
            <a:r>
              <a:rPr lang="en-US" altLang="zh-TW" dirty="0">
                <a:hlinkClick r:id="rId4"/>
              </a:rPr>
              <a:t>Cloud locations</a:t>
            </a:r>
            <a:endParaRPr 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72" y="2348880"/>
            <a:ext cx="5344453" cy="383019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658" y="2852936"/>
            <a:ext cx="6054368" cy="3060819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1341884" y="2308756"/>
            <a:ext cx="447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https://cloud.withgoogle.com/region-picker/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516808" y="2348880"/>
            <a:ext cx="419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https://cloud.google.com/about/locations</a:t>
            </a:r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451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04" y="2348880"/>
            <a:ext cx="11319272" cy="3139329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868" y="1874188"/>
            <a:ext cx="10058400" cy="4409883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02" y="1815977"/>
            <a:ext cx="5438449" cy="446449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519" y="1815977"/>
            <a:ext cx="5438449" cy="446449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612" y="1815977"/>
            <a:ext cx="5438449" cy="4464496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706" y="1815977"/>
            <a:ext cx="5438449" cy="4464496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4363" y="1815977"/>
            <a:ext cx="5438449" cy="4464496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zh-TW" altLang="en-US" dirty="0"/>
              <a:t>部屬 </a:t>
            </a:r>
            <a:r>
              <a:rPr lang="en-US" altLang="zh-TW" dirty="0"/>
              <a:t>Google Cloud SDK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跟者指示就能引導到各種</a:t>
            </a:r>
            <a:r>
              <a:rPr lang="en-US" altLang="zh-TW" dirty="0"/>
              <a:t>OS</a:t>
            </a:r>
            <a:r>
              <a:rPr lang="zh-TW" altLang="en-US" dirty="0"/>
              <a:t>下的</a:t>
            </a:r>
            <a:r>
              <a:rPr lang="zh-TW" altLang="en-US" dirty="0">
                <a:hlinkClick r:id="rId10"/>
              </a:rPr>
              <a:t>部屬文件</a:t>
            </a:r>
            <a:r>
              <a:rPr lang="zh-TW" altLang="en-US" dirty="0"/>
              <a:t>，有指令進行安裝</a:t>
            </a:r>
            <a:endParaRPr lang="en-US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2550" y="1815977"/>
            <a:ext cx="5467919" cy="4488689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9338" y="1815977"/>
            <a:ext cx="5479701" cy="4498360"/>
          </a:xfrm>
          <a:prstGeom prst="rect">
            <a:avLst/>
          </a:prstGeom>
        </p:spPr>
      </p:pic>
      <p:sp>
        <p:nvSpPr>
          <p:cNvPr id="21" name="文字方塊 20"/>
          <p:cNvSpPr txBox="1"/>
          <p:nvPr/>
        </p:nvSpPr>
        <p:spPr>
          <a:xfrm>
            <a:off x="1277507" y="4956143"/>
            <a:ext cx="989912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(New-Object </a:t>
            </a:r>
            <a:r>
              <a:rPr lang="en-US" altLang="zh-TW" sz="1400" dirty="0" err="1"/>
              <a:t>Net.WebClient</a:t>
            </a:r>
            <a:r>
              <a:rPr lang="en-US" altLang="zh-TW" sz="1400" dirty="0"/>
              <a:t>).</a:t>
            </a:r>
            <a:r>
              <a:rPr lang="en-US" altLang="zh-TW" sz="1400" dirty="0" err="1"/>
              <a:t>DownloadFile</a:t>
            </a:r>
            <a:r>
              <a:rPr lang="en-US" altLang="zh-TW" sz="1400" dirty="0"/>
              <a:t>("https://dl.google.com/dl/</a:t>
            </a:r>
            <a:r>
              <a:rPr lang="en-US" altLang="zh-TW" sz="1400" dirty="0" err="1"/>
              <a:t>cloudsdk</a:t>
            </a:r>
            <a:r>
              <a:rPr lang="en-US" altLang="zh-TW" sz="1400" dirty="0"/>
              <a:t>/channels/rapid/GoogleCloudSDKInstaller.exe", "$</a:t>
            </a:r>
            <a:r>
              <a:rPr lang="en-US" altLang="zh-TW" sz="1400" dirty="0" err="1"/>
              <a:t>env:Temp</a:t>
            </a:r>
            <a:r>
              <a:rPr lang="en-US" altLang="zh-TW" sz="1400" dirty="0"/>
              <a:t>\GoogleCloudSDKInstaller.exe")</a:t>
            </a:r>
          </a:p>
          <a:p>
            <a:endParaRPr lang="en-US" altLang="zh-TW" sz="1400" dirty="0"/>
          </a:p>
          <a:p>
            <a:r>
              <a:rPr lang="en-US" altLang="zh-TW" sz="1400" dirty="0"/>
              <a:t>&amp; $</a:t>
            </a:r>
            <a:r>
              <a:rPr lang="en-US" altLang="zh-TW" sz="1400" dirty="0" err="1"/>
              <a:t>env:Temp</a:t>
            </a:r>
            <a:r>
              <a:rPr lang="en-US" altLang="zh-TW" sz="1400" dirty="0"/>
              <a:t>\GoogleCloudSDKInstaller.exe</a:t>
            </a:r>
          </a:p>
          <a:p>
            <a:r>
              <a:rPr lang="en-US" altLang="zh-TW" sz="1400" dirty="0"/>
              <a:t> 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4043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 </a:t>
            </a:r>
            <a:r>
              <a:rPr lang="zh-TW" altLang="en-US" dirty="0"/>
              <a:t>設定 </a:t>
            </a:r>
            <a:r>
              <a:rPr lang="en-US" altLang="zh-TW" dirty="0"/>
              <a:t>Google Cloud SDK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zh-TW" altLang="en-US" dirty="0"/>
              <a:t>設定指令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err="1">
                <a:solidFill>
                  <a:schemeClr val="accent5"/>
                </a:solidFill>
              </a:rPr>
              <a:t>gcloud</a:t>
            </a:r>
            <a:r>
              <a:rPr lang="en-US" altLang="zh-TW" dirty="0">
                <a:solidFill>
                  <a:schemeClr val="accent5"/>
                </a:solidFill>
              </a:rPr>
              <a:t> </a:t>
            </a:r>
            <a:r>
              <a:rPr lang="en-US" altLang="zh-TW" dirty="0" err="1">
                <a:solidFill>
                  <a:schemeClr val="accent5"/>
                </a:solidFill>
              </a:rPr>
              <a:t>init</a:t>
            </a:r>
            <a:endParaRPr lang="en-US" altLang="zh-TW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altLang="zh-TW" dirty="0"/>
              <a:t>To continue, you must log in. Would you like to log in (Y/n)? </a:t>
            </a:r>
            <a:r>
              <a:rPr lang="en-US" altLang="zh-TW" dirty="0">
                <a:solidFill>
                  <a:schemeClr val="accent5"/>
                </a:solidFill>
              </a:rPr>
              <a:t>Y</a:t>
            </a:r>
          </a:p>
          <a:p>
            <a:r>
              <a:rPr lang="en-US" altLang="zh-TW" dirty="0"/>
              <a:t> </a:t>
            </a:r>
            <a:r>
              <a:rPr lang="zh-TW" altLang="en-US" dirty="0"/>
              <a:t>確認指令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err="1">
                <a:solidFill>
                  <a:schemeClr val="accent5"/>
                </a:solidFill>
              </a:rPr>
              <a:t>gcloud</a:t>
            </a:r>
            <a:r>
              <a:rPr lang="en-US" altLang="zh-TW" dirty="0">
                <a:solidFill>
                  <a:schemeClr val="accent5"/>
                </a:solidFill>
              </a:rPr>
              <a:t> </a:t>
            </a:r>
            <a:r>
              <a:rPr lang="en-US" altLang="zh-TW" dirty="0" err="1">
                <a:solidFill>
                  <a:schemeClr val="accent5"/>
                </a:solidFill>
              </a:rPr>
              <a:t>auth</a:t>
            </a:r>
            <a:r>
              <a:rPr lang="en-US" altLang="zh-TW" dirty="0">
                <a:solidFill>
                  <a:schemeClr val="accent5"/>
                </a:solidFill>
              </a:rPr>
              <a:t> list </a:t>
            </a:r>
            <a:r>
              <a:rPr lang="en-US" altLang="zh-TW" dirty="0"/>
              <a:t>(</a:t>
            </a:r>
            <a:r>
              <a:rPr lang="zh-TW" altLang="en-US" dirty="0"/>
              <a:t>列出綁定帳號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 err="1">
                <a:solidFill>
                  <a:schemeClr val="accent5"/>
                </a:solidFill>
              </a:rPr>
              <a:t>gcloud</a:t>
            </a:r>
            <a:r>
              <a:rPr lang="en-US" altLang="zh-TW" dirty="0">
                <a:solidFill>
                  <a:schemeClr val="accent5"/>
                </a:solidFill>
              </a:rPr>
              <a:t> </a:t>
            </a:r>
            <a:r>
              <a:rPr lang="en-US" altLang="zh-TW" dirty="0" err="1">
                <a:solidFill>
                  <a:schemeClr val="accent5"/>
                </a:solidFill>
              </a:rPr>
              <a:t>config</a:t>
            </a:r>
            <a:r>
              <a:rPr lang="en-US" altLang="zh-TW" dirty="0">
                <a:solidFill>
                  <a:schemeClr val="accent5"/>
                </a:solidFill>
              </a:rPr>
              <a:t> list</a:t>
            </a:r>
            <a:r>
              <a:rPr lang="zh-TW" altLang="en-US" dirty="0">
                <a:solidFill>
                  <a:schemeClr val="accent5"/>
                </a:solidFill>
              </a:rPr>
              <a:t> </a:t>
            </a:r>
            <a:r>
              <a:rPr lang="en-US" altLang="zh-TW" dirty="0"/>
              <a:t>(</a:t>
            </a:r>
            <a:r>
              <a:rPr lang="zh-TW" altLang="en-US" dirty="0"/>
              <a:t>列出設定檔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 err="1">
                <a:solidFill>
                  <a:schemeClr val="accent5"/>
                </a:solidFill>
              </a:rPr>
              <a:t>gcloud</a:t>
            </a:r>
            <a:r>
              <a:rPr lang="en-US" altLang="zh-TW" dirty="0">
                <a:solidFill>
                  <a:schemeClr val="accent5"/>
                </a:solidFill>
              </a:rPr>
              <a:t> info</a:t>
            </a:r>
            <a:r>
              <a:rPr lang="zh-TW" altLang="en-US" dirty="0">
                <a:solidFill>
                  <a:schemeClr val="accent5"/>
                </a:solidFill>
              </a:rPr>
              <a:t> </a:t>
            </a:r>
            <a:r>
              <a:rPr lang="en-US" altLang="zh-TW" dirty="0"/>
              <a:t>(</a:t>
            </a:r>
            <a:r>
              <a:rPr lang="zh-TW" altLang="en-US" dirty="0"/>
              <a:t>顯示當前設定檔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378" y="980728"/>
            <a:ext cx="2808312" cy="530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492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補充：「停用指令碼」錯誤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77788" y="1330423"/>
            <a:ext cx="11881320" cy="4762873"/>
          </a:xfrm>
        </p:spPr>
        <p:txBody>
          <a:bodyPr>
            <a:normAutofit fontScale="92500"/>
          </a:bodyPr>
          <a:lstStyle/>
          <a:p>
            <a:r>
              <a:rPr lang="zh-TW" altLang="en-US" b="1" dirty="0"/>
              <a:t>錯誤：</a:t>
            </a:r>
            <a:r>
              <a:rPr lang="en-US" dirty="0" err="1">
                <a:solidFill>
                  <a:srgbClr val="FF0000"/>
                </a:solidFill>
              </a:rPr>
              <a:t>gcloud</a:t>
            </a:r>
            <a:r>
              <a:rPr lang="en-US" dirty="0">
                <a:solidFill>
                  <a:srgbClr val="FF0000"/>
                </a:solidFill>
              </a:rPr>
              <a:t> : </a:t>
            </a:r>
            <a:r>
              <a:rPr lang="zh-TW" altLang="en-US" dirty="0">
                <a:solidFill>
                  <a:srgbClr val="FF0000"/>
                </a:solidFill>
              </a:rPr>
              <a:t>因為這個系統上已停用指令碼執行，所以無法載入 </a:t>
            </a:r>
            <a:r>
              <a:rPr lang="en-US" dirty="0">
                <a:solidFill>
                  <a:srgbClr val="FF0000"/>
                </a:solidFill>
              </a:rPr>
              <a:t>C:\Program Files (x86)\Google\Cloud SDK\google-cloud-</a:t>
            </a:r>
            <a:r>
              <a:rPr lang="en-US" dirty="0" err="1">
                <a:solidFill>
                  <a:srgbClr val="FF0000"/>
                </a:solidFill>
              </a:rPr>
              <a:t>sdk</a:t>
            </a:r>
            <a:r>
              <a:rPr lang="en-US" dirty="0">
                <a:solidFill>
                  <a:srgbClr val="FF0000"/>
                </a:solidFill>
              </a:rPr>
              <a:t>\bin\gcloud.ps1 </a:t>
            </a:r>
            <a:r>
              <a:rPr lang="zh-TW" altLang="en-US" dirty="0">
                <a:solidFill>
                  <a:srgbClr val="FF0000"/>
                </a:solidFill>
              </a:rPr>
              <a:t>檔案。如需詳細資訊，請參閱 </a:t>
            </a:r>
            <a:r>
              <a:rPr lang="en-US" dirty="0" err="1">
                <a:solidFill>
                  <a:srgbClr val="FF0000"/>
                </a:solidFill>
              </a:rPr>
              <a:t>about_Execution_Policies</a:t>
            </a:r>
            <a:r>
              <a:rPr lang="en-US" dirty="0">
                <a:solidFill>
                  <a:srgbClr val="FF0000"/>
                </a:solidFill>
              </a:rPr>
              <a:t>，</a:t>
            </a:r>
            <a:r>
              <a:rPr lang="zh-TW" altLang="en-US" dirty="0">
                <a:solidFill>
                  <a:srgbClr val="FF0000"/>
                </a:solidFill>
              </a:rPr>
              <a:t>網址為 </a:t>
            </a:r>
            <a:r>
              <a:rPr lang="en-US" dirty="0">
                <a:solidFill>
                  <a:srgbClr val="FF0000"/>
                </a:solidFill>
              </a:rPr>
              <a:t>https:/go.microsoft.com/</a:t>
            </a:r>
            <a:r>
              <a:rPr lang="en-US" dirty="0" err="1">
                <a:solidFill>
                  <a:srgbClr val="FF0000"/>
                </a:solidFill>
              </a:rPr>
              <a:t>fwlink</a:t>
            </a:r>
            <a:r>
              <a:rPr lang="en-US" dirty="0">
                <a:solidFill>
                  <a:srgbClr val="FF0000"/>
                </a:solidFill>
              </a:rPr>
              <a:t>/?</a:t>
            </a:r>
            <a:r>
              <a:rPr lang="en-US" dirty="0" err="1">
                <a:solidFill>
                  <a:srgbClr val="FF0000"/>
                </a:solidFill>
              </a:rPr>
              <a:t>LinkID</a:t>
            </a:r>
            <a:r>
              <a:rPr lang="en-US" dirty="0">
                <a:solidFill>
                  <a:srgbClr val="FF0000"/>
                </a:solidFill>
              </a:rPr>
              <a:t>=135170</a:t>
            </a:r>
          </a:p>
          <a:p>
            <a:r>
              <a:rPr lang="zh-TW" altLang="en-US" dirty="0">
                <a:hlinkClick r:id="rId3"/>
              </a:rPr>
              <a:t>參考</a:t>
            </a:r>
            <a:endParaRPr lang="en-US" dirty="0">
              <a:solidFill>
                <a:srgbClr val="FF0000"/>
              </a:solidFill>
            </a:endParaRPr>
          </a:p>
          <a:p>
            <a:endParaRPr lang="en-US" altLang="zh-TW" b="1" dirty="0"/>
          </a:p>
          <a:p>
            <a:endParaRPr lang="en-US" altLang="zh-TW" b="1" dirty="0"/>
          </a:p>
          <a:p>
            <a:r>
              <a:rPr lang="zh-TW" altLang="en-US" b="1" dirty="0"/>
              <a:t>指令：</a:t>
            </a:r>
            <a:endParaRPr lang="en-US" b="1" dirty="0"/>
          </a:p>
          <a:p>
            <a:pPr marL="0" indent="0">
              <a:buNone/>
            </a:pPr>
            <a:r>
              <a:rPr lang="zh-TW" altLang="en-US" dirty="0"/>
              <a:t>列出：</a:t>
            </a:r>
            <a:r>
              <a:rPr lang="en-US" dirty="0">
                <a:solidFill>
                  <a:schemeClr val="accent5"/>
                </a:solidFill>
              </a:rPr>
              <a:t>Get-</a:t>
            </a:r>
            <a:r>
              <a:rPr lang="en-US" dirty="0" err="1">
                <a:solidFill>
                  <a:schemeClr val="accent5"/>
                </a:solidFill>
              </a:rPr>
              <a:t>ExecutionPolicy</a:t>
            </a:r>
            <a:r>
              <a:rPr lang="en-US" dirty="0">
                <a:solidFill>
                  <a:schemeClr val="accent5"/>
                </a:solidFill>
              </a:rPr>
              <a:t> –List</a:t>
            </a:r>
          </a:p>
          <a:p>
            <a:pPr marL="0" indent="0">
              <a:buNone/>
            </a:pPr>
            <a:r>
              <a:rPr lang="zh-TW" altLang="en-US" dirty="0"/>
              <a:t>擴權：</a:t>
            </a:r>
            <a:r>
              <a:rPr lang="en-US" dirty="0">
                <a:solidFill>
                  <a:schemeClr val="accent5"/>
                </a:solidFill>
              </a:rPr>
              <a:t>Set-</a:t>
            </a:r>
            <a:r>
              <a:rPr lang="en-US" dirty="0" err="1">
                <a:solidFill>
                  <a:schemeClr val="accent5"/>
                </a:solidFill>
              </a:rPr>
              <a:t>ExecutionPolicy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err="1">
                <a:solidFill>
                  <a:schemeClr val="accent5"/>
                </a:solidFill>
              </a:rPr>
              <a:t>RemoteSigned</a:t>
            </a:r>
            <a:endParaRPr lang="en-US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zh-TW" altLang="en-US" dirty="0"/>
              <a:t>恢復：</a:t>
            </a:r>
            <a:r>
              <a:rPr lang="en-US" altLang="zh-TW" dirty="0">
                <a:solidFill>
                  <a:schemeClr val="accent5"/>
                </a:solidFill>
              </a:rPr>
              <a:t>Set-</a:t>
            </a:r>
            <a:r>
              <a:rPr lang="en-US" altLang="zh-TW" dirty="0" err="1">
                <a:solidFill>
                  <a:schemeClr val="accent5"/>
                </a:solidFill>
              </a:rPr>
              <a:t>ExecutionPolicy</a:t>
            </a:r>
            <a:r>
              <a:rPr lang="en-US" altLang="zh-TW" dirty="0">
                <a:solidFill>
                  <a:schemeClr val="accent5"/>
                </a:solidFill>
              </a:rPr>
              <a:t> -</a:t>
            </a:r>
            <a:r>
              <a:rPr lang="en-US" altLang="zh-TW" dirty="0" err="1">
                <a:solidFill>
                  <a:schemeClr val="accent5"/>
                </a:solidFill>
              </a:rPr>
              <a:t>ExecutionPolicy</a:t>
            </a:r>
            <a:r>
              <a:rPr lang="en-US" altLang="zh-TW" dirty="0">
                <a:solidFill>
                  <a:schemeClr val="accent5"/>
                </a:solidFill>
              </a:rPr>
              <a:t> Undefined -Scope </a:t>
            </a:r>
            <a:r>
              <a:rPr lang="en-US" altLang="zh-TW" dirty="0" err="1">
                <a:solidFill>
                  <a:schemeClr val="accent5"/>
                </a:solidFill>
              </a:rPr>
              <a:t>LocalMachine</a:t>
            </a:r>
            <a:endParaRPr lang="en-US" altLang="zh-TW" dirty="0">
              <a:solidFill>
                <a:schemeClr val="accent5"/>
              </a:solidFill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275" y="2420888"/>
            <a:ext cx="6854709" cy="259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29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 </a:t>
            </a:r>
            <a:r>
              <a:rPr lang="zh-TW" altLang="en-US" dirty="0"/>
              <a:t>設定開發環境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77788" y="1330423"/>
            <a:ext cx="11377264" cy="41148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/>
              <a:t>1.</a:t>
            </a:r>
            <a:r>
              <a:rPr lang="zh-TW" altLang="en-US" dirty="0"/>
              <a:t> </a:t>
            </a:r>
            <a:r>
              <a:rPr lang="en-US" altLang="zh-TW" dirty="0"/>
              <a:t>Runtime</a:t>
            </a:r>
            <a:r>
              <a:rPr lang="zh-TW" altLang="en-US" dirty="0"/>
              <a:t> 。顯而易見，開發 </a:t>
            </a:r>
            <a:r>
              <a:rPr lang="en-US" altLang="zh-TW" dirty="0"/>
              <a:t>Python </a:t>
            </a:r>
            <a:r>
              <a:rPr lang="zh-TW" altLang="en-US" dirty="0"/>
              <a:t>需要安裝 </a:t>
            </a:r>
            <a:r>
              <a:rPr lang="en-US" altLang="zh-TW" dirty="0"/>
              <a:t>Python</a:t>
            </a:r>
            <a:r>
              <a:rPr lang="zh-TW" altLang="en-US" dirty="0"/>
              <a:t>。</a:t>
            </a:r>
            <a:r>
              <a:rPr lang="zh-TW" altLang="en-US" dirty="0">
                <a:hlinkClick r:id="rId3"/>
              </a:rPr>
              <a:t>參考這裡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2.</a:t>
            </a:r>
            <a:r>
              <a:rPr lang="zh-TW" altLang="en-US" dirty="0"/>
              <a:t> </a:t>
            </a:r>
            <a:r>
              <a:rPr lang="en-US" altLang="zh-TW" dirty="0"/>
              <a:t>Google Cloud </a:t>
            </a:r>
            <a:r>
              <a:rPr lang="zh-TW" altLang="en-US" dirty="0"/>
              <a:t>元件。部分語言需要額外安裝 </a:t>
            </a:r>
            <a:r>
              <a:rPr lang="en-US" altLang="zh-TW" dirty="0"/>
              <a:t>Google Cloud </a:t>
            </a:r>
            <a:r>
              <a:rPr lang="zh-TW" altLang="en-US" dirty="0"/>
              <a:t>元件，範例中的 </a:t>
            </a:r>
            <a:r>
              <a:rPr lang="en-US" altLang="zh-TW" dirty="0"/>
              <a:t>Python </a:t>
            </a:r>
            <a:r>
              <a:rPr lang="zh-TW" altLang="en-US" dirty="0"/>
              <a:t>不需要額外安裝 </a:t>
            </a:r>
            <a:r>
              <a:rPr lang="en-US" altLang="zh-TW" dirty="0"/>
              <a:t>(</a:t>
            </a:r>
            <a:r>
              <a:rPr lang="zh-TW" altLang="en-US" dirty="0"/>
              <a:t>只需要更新</a:t>
            </a:r>
            <a:r>
              <a:rPr lang="en-US" altLang="zh-TW" dirty="0"/>
              <a:t>)</a:t>
            </a:r>
            <a:r>
              <a:rPr lang="zh-TW" altLang="en-US" dirty="0"/>
              <a:t>，但以 </a:t>
            </a:r>
            <a:r>
              <a:rPr lang="en-US" altLang="zh-TW" dirty="0"/>
              <a:t>Java </a:t>
            </a:r>
            <a:r>
              <a:rPr lang="zh-TW" altLang="en-US" dirty="0"/>
              <a:t>或</a:t>
            </a:r>
            <a:r>
              <a:rPr lang="en-US" dirty="0"/>
              <a:t> </a:t>
            </a:r>
            <a:r>
              <a:rPr lang="en-US" altLang="zh-TW" dirty="0"/>
              <a:t>Go </a:t>
            </a:r>
            <a:r>
              <a:rPr lang="zh-TW" altLang="en-US" dirty="0"/>
              <a:t>語言開發的話需要以下指令安裝額外的元件：</a:t>
            </a:r>
            <a:endParaRPr lang="en-US" dirty="0"/>
          </a:p>
          <a:p>
            <a:r>
              <a:rPr lang="zh-TW" altLang="en-US" dirty="0"/>
              <a:t>指令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err="1">
                <a:solidFill>
                  <a:schemeClr val="accent5"/>
                </a:solidFill>
              </a:rPr>
              <a:t>gcloud</a:t>
            </a:r>
            <a:r>
              <a:rPr lang="en-US" altLang="zh-TW" dirty="0">
                <a:solidFill>
                  <a:schemeClr val="accent5"/>
                </a:solidFill>
              </a:rPr>
              <a:t> components install app-engine-go</a:t>
            </a:r>
          </a:p>
          <a:p>
            <a:pPr marL="0" indent="0">
              <a:buNone/>
            </a:pPr>
            <a:r>
              <a:rPr lang="en-US" altLang="zh-TW" dirty="0" err="1">
                <a:solidFill>
                  <a:schemeClr val="accent5"/>
                </a:solidFill>
              </a:rPr>
              <a:t>gcloud</a:t>
            </a:r>
            <a:r>
              <a:rPr lang="en-US" altLang="zh-TW" dirty="0">
                <a:solidFill>
                  <a:schemeClr val="accent5"/>
                </a:solidFill>
              </a:rPr>
              <a:t> components install app-engine-java</a:t>
            </a:r>
          </a:p>
          <a:p>
            <a:r>
              <a:rPr lang="zh-TW" altLang="en-US" dirty="0"/>
              <a:t>更新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err="1">
                <a:solidFill>
                  <a:schemeClr val="accent5"/>
                </a:solidFill>
              </a:rPr>
              <a:t>gcloud</a:t>
            </a:r>
            <a:r>
              <a:rPr lang="en-US" altLang="zh-TW" dirty="0">
                <a:solidFill>
                  <a:schemeClr val="accent5"/>
                </a:solidFill>
              </a:rPr>
              <a:t> components update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89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 Engine</a:t>
            </a:r>
            <a:r>
              <a:rPr lang="zh-TW" altLang="en-US" dirty="0"/>
              <a:t> 部屬 </a:t>
            </a:r>
            <a:r>
              <a:rPr lang="en-US" altLang="zh-TW" dirty="0"/>
              <a:t>Lab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50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TW" altLang="en-US" dirty="0"/>
              <a:t>取得範例並部屬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77788" y="1330423"/>
            <a:ext cx="10873208" cy="447484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TW" altLang="en-US" dirty="0"/>
              <a:t>推薦：部屬前可以先把防毒關掉，否則等到天荒地老，還可能部屬失敗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備案：</a:t>
            </a:r>
            <a:r>
              <a:rPr lang="zh-TW" altLang="en-US" dirty="0">
                <a:hlinkClick r:id="rId3"/>
              </a:rPr>
              <a:t>另一個範例專案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主案：</a:t>
            </a:r>
            <a:r>
              <a:rPr lang="en-US" altLang="zh-TW" dirty="0">
                <a:hlinkClick r:id="rId4"/>
              </a:rPr>
              <a:t>google </a:t>
            </a:r>
            <a:r>
              <a:rPr lang="zh-TW" altLang="en-US" dirty="0">
                <a:hlinkClick r:id="rId4"/>
              </a:rPr>
              <a:t>提供的範例專案</a:t>
            </a: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chemeClr val="accent5"/>
                </a:solidFill>
              </a:rPr>
              <a:t>git</a:t>
            </a:r>
            <a:r>
              <a:rPr lang="en-US" dirty="0">
                <a:solidFill>
                  <a:schemeClr val="accent5"/>
                </a:solidFill>
              </a:rPr>
              <a:t> clone https://github.com/GoogleCloudPlatform/python-docs-samples.git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cd \python-docs-samples\</a:t>
            </a:r>
            <a:r>
              <a:rPr lang="en-US" dirty="0" err="1">
                <a:solidFill>
                  <a:schemeClr val="accent5"/>
                </a:solidFill>
              </a:rPr>
              <a:t>appengine</a:t>
            </a:r>
            <a:r>
              <a:rPr lang="en-US" dirty="0">
                <a:solidFill>
                  <a:schemeClr val="accent5"/>
                </a:solidFill>
              </a:rPr>
              <a:t>\standard_python3\</a:t>
            </a:r>
            <a:r>
              <a:rPr lang="en-US" dirty="0" err="1">
                <a:solidFill>
                  <a:schemeClr val="accent5"/>
                </a:solidFill>
              </a:rPr>
              <a:t>hello_world</a:t>
            </a:r>
            <a:r>
              <a:rPr lang="en-US" dirty="0">
                <a:solidFill>
                  <a:schemeClr val="accent5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zh-TW" dirty="0" err="1">
                <a:solidFill>
                  <a:schemeClr val="accent5"/>
                </a:solidFill>
              </a:rPr>
              <a:t>gcloud</a:t>
            </a:r>
            <a:r>
              <a:rPr lang="en-US" altLang="zh-TW" dirty="0">
                <a:solidFill>
                  <a:schemeClr val="accent5"/>
                </a:solidFill>
              </a:rPr>
              <a:t> app deploy --version v1</a:t>
            </a:r>
          </a:p>
          <a:p>
            <a:pPr marL="0" indent="0">
              <a:buNone/>
            </a:pPr>
            <a:r>
              <a:rPr lang="en-US" altLang="zh-TW" dirty="0"/>
              <a:t>Do you want to continue (Y/n)?</a:t>
            </a:r>
            <a:r>
              <a:rPr lang="zh-TW" altLang="en-US" dirty="0">
                <a:solidFill>
                  <a:schemeClr val="accent5"/>
                </a:solidFill>
              </a:rPr>
              <a:t> </a:t>
            </a:r>
            <a:r>
              <a:rPr lang="en-US" altLang="zh-TW" dirty="0">
                <a:solidFill>
                  <a:schemeClr val="accent5"/>
                </a:solidFill>
              </a:rPr>
              <a:t>Y</a:t>
            </a:r>
          </a:p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根據專案大小可能等待</a:t>
            </a:r>
            <a:r>
              <a:rPr lang="en-US" altLang="zh-TW" dirty="0"/>
              <a:t>500</a:t>
            </a:r>
            <a:r>
              <a:rPr lang="zh-TW" altLang="en-US" dirty="0"/>
              <a:t>秒左右，</a:t>
            </a:r>
            <a:r>
              <a:rPr lang="en-US" altLang="zh-TW" dirty="0" err="1"/>
              <a:t>hello_world</a:t>
            </a:r>
            <a:r>
              <a:rPr lang="en-US" altLang="zh-TW" dirty="0"/>
              <a:t> </a:t>
            </a:r>
            <a:r>
              <a:rPr lang="zh-TW" altLang="en-US" dirty="0"/>
              <a:t>專案大約 </a:t>
            </a:r>
            <a:r>
              <a:rPr lang="en-US" altLang="zh-TW" dirty="0"/>
              <a:t>30</a:t>
            </a:r>
            <a:r>
              <a:rPr lang="zh-TW" altLang="en-US" dirty="0"/>
              <a:t> 秒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5"/>
                </a:solidFill>
              </a:rPr>
              <a:t>gcloud</a:t>
            </a:r>
            <a:r>
              <a:rPr lang="en-US" dirty="0">
                <a:solidFill>
                  <a:schemeClr val="accent5"/>
                </a:solidFill>
              </a:rPr>
              <a:t> app browse</a:t>
            </a:r>
          </a:p>
        </p:txBody>
      </p:sp>
    </p:spTree>
    <p:extLst>
      <p:ext uri="{BB962C8B-B14F-4D97-AF65-F5344CB8AC3E}">
        <p14:creationId xmlns:p14="http://schemas.microsoft.com/office/powerpoint/2010/main" val="178499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 </a:t>
            </a:r>
            <a:r>
              <a:rPr lang="zh-TW" altLang="en-US" dirty="0"/>
              <a:t>部屬完成</a:t>
            </a:r>
            <a:endParaRPr 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796" y="4102410"/>
            <a:ext cx="5544616" cy="1888635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796" y="1772816"/>
            <a:ext cx="5257907" cy="1177384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692" y="2054067"/>
            <a:ext cx="5744732" cy="348853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6382444" y="1588150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solidFill>
                  <a:schemeClr val="bg1"/>
                </a:solidFill>
                <a:latin typeface="+mn-ea"/>
              </a:rPr>
              <a:t>BigQuery</a:t>
            </a:r>
            <a:r>
              <a:rPr lang="en-US" altLang="zh-TW" dirty="0">
                <a:solidFill>
                  <a:schemeClr val="bg1"/>
                </a:solidFill>
                <a:latin typeface="+mn-ea"/>
              </a:rPr>
              <a:t> </a:t>
            </a:r>
            <a:r>
              <a:rPr lang="zh-TW" altLang="en-US" dirty="0">
                <a:solidFill>
                  <a:schemeClr val="bg1"/>
                </a:solidFill>
                <a:latin typeface="+mn-ea"/>
              </a:rPr>
              <a:t>範例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897086" y="3429000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  <a:latin typeface="+mn-ea"/>
              </a:rPr>
              <a:t>GAE</a:t>
            </a:r>
            <a:r>
              <a:rPr lang="zh-TW" altLang="en-US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TW" dirty="0">
                <a:solidFill>
                  <a:schemeClr val="bg1"/>
                </a:solidFill>
                <a:latin typeface="+mn-ea"/>
              </a:rPr>
              <a:t>Sample Site</a:t>
            </a:r>
            <a:endParaRPr lang="zh-TW" alt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74493" y="1175973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solidFill>
                  <a:schemeClr val="bg1"/>
                </a:solidFill>
                <a:latin typeface="+mn-ea"/>
              </a:rPr>
              <a:t>Helloworld</a:t>
            </a:r>
            <a:r>
              <a:rPr lang="en-US" altLang="zh-TW" dirty="0">
                <a:solidFill>
                  <a:schemeClr val="bg1"/>
                </a:solidFill>
                <a:latin typeface="+mn-ea"/>
              </a:rPr>
              <a:t> </a:t>
            </a:r>
            <a:r>
              <a:rPr lang="zh-TW" altLang="en-US" dirty="0">
                <a:solidFill>
                  <a:schemeClr val="bg1"/>
                </a:solidFill>
                <a:latin typeface="+mn-ea"/>
              </a:rPr>
              <a:t>範例</a:t>
            </a:r>
          </a:p>
        </p:txBody>
      </p:sp>
    </p:spTree>
    <p:extLst>
      <p:ext uri="{BB962C8B-B14F-4D97-AF65-F5344CB8AC3E}">
        <p14:creationId xmlns:p14="http://schemas.microsoft.com/office/powerpoint/2010/main" val="216115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523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tf02895261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03C5CF44-0C62-41B4-B3EA-416B4807878A}" vid="{EC3ACB92-700E-4167-B3A6-412DE40A64C2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1564227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Take your audience through a digital tunnel where they'll  burst through to the other side and see the information you want to present. Show them lists, charts, tables, SmartArt,  and pictures using a variety of layouts in widescreen (16X9) format. This design works well for subjects on science and technology, computers, communication, and more.   
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2012-05-11T02:04:00+00:00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TP102895246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835483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REDMOND\v-vaddu</DisplayName>
        <AccountId>2567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22CCB507-0646-4A50-A4F7-7F385079D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4228E6B-D70C-44BB-A81F-A245495F61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E41224-0370-4595-877C-23316CD80004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4873beb7-5857-4685-be1f-d57550cc96c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tf02895261</Template>
  <TotalTime>5000</TotalTime>
  <Words>2113</Words>
  <Application>Microsoft Office PowerPoint</Application>
  <PresentationFormat>自訂</PresentationFormat>
  <Paragraphs>188</Paragraphs>
  <Slides>20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5" baseType="lpstr">
      <vt:lpstr>微軟正黑體</vt:lpstr>
      <vt:lpstr>Arial</vt:lpstr>
      <vt:lpstr>Corbel</vt:lpstr>
      <vt:lpstr>Wingdings</vt:lpstr>
      <vt:lpstr>tf02895261</vt:lpstr>
      <vt:lpstr>GCP App Engine</vt:lpstr>
      <vt:lpstr>什麼是 GCP App Engine？</vt:lpstr>
      <vt:lpstr>什麼是 GCP App Engine？</vt:lpstr>
      <vt:lpstr>GAE</vt:lpstr>
      <vt:lpstr>GAE: Fully Managed / PaaS / Serverless</vt:lpstr>
      <vt:lpstr>GAE: Fully Managed / PaaS / Serverless</vt:lpstr>
      <vt:lpstr>GAE: Environment  </vt:lpstr>
      <vt:lpstr>GAE: Usage Example</vt:lpstr>
      <vt:lpstr>App Engine 環境設定</vt:lpstr>
      <vt:lpstr>1. 建立 GCP Project</vt:lpstr>
      <vt:lpstr>2. 設定 App Engine </vt:lpstr>
      <vt:lpstr>補充：選擇 Region</vt:lpstr>
      <vt:lpstr>3. 部屬 Google Cloud SDK</vt:lpstr>
      <vt:lpstr>4. 設定 Google Cloud SDK</vt:lpstr>
      <vt:lpstr>補充：「停用指令碼」錯誤</vt:lpstr>
      <vt:lpstr>5. 設定開發環境</vt:lpstr>
      <vt:lpstr>App Engine 部屬 Lab</vt:lpstr>
      <vt:lpstr>1. 取得範例並部屬</vt:lpstr>
      <vt:lpstr>2. 部屬完成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Russell</dc:creator>
  <cp:lastModifiedBy>Russell Tseng-曾理碩-精誠-核心資安技術處B</cp:lastModifiedBy>
  <cp:revision>148</cp:revision>
  <dcterms:created xsi:type="dcterms:W3CDTF">2017-02-15T07:18:01Z</dcterms:created>
  <dcterms:modified xsi:type="dcterms:W3CDTF">2022-02-23T03:08:42Z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